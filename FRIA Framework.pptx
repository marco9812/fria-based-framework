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omments/modernComment_10E_65AB6B18.xml" ContentType="application/vnd.ms-powerpoint.comments+xml"/>
  <Override PartName="/ppt/comments/modernComment_10F_FDC2E3BA.xml" ContentType="application/vnd.ms-powerpoint.comments+xml"/>
  <Override PartName="/ppt/notesSlides/notesSlide2.xml" ContentType="application/vnd.openxmlformats-officedocument.presentationml.notesSlide+xml"/>
  <Override PartName="/ppt/comments/modernComment_119_5421509E.xml" ContentType="application/vnd.ms-powerpoint.comments+xml"/>
  <Override PartName="/ppt/notesSlides/notesSlide3.xml" ContentType="application/vnd.openxmlformats-officedocument.presentationml.notesSlide+xml"/>
  <Override PartName="/ppt/comments/modernComment_11A_3D13B23A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1C_F7746CB5.xml" ContentType="application/vnd.ms-powerpoint.comments+xml"/>
  <Override PartName="/ppt/notesSlides/notesSlide6.xml" ContentType="application/vnd.openxmlformats-officedocument.presentationml.notesSlide+xml"/>
  <Override PartName="/ppt/comments/modernComment_11E_49B6980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73" r:id="rId11"/>
    <p:sldId id="274" r:id="rId12"/>
    <p:sldId id="275" r:id="rId13"/>
    <p:sldId id="276" r:id="rId14"/>
    <p:sldId id="270" r:id="rId15"/>
    <p:sldId id="271" r:id="rId16"/>
    <p:sldId id="272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43800-FA29-A48A-09CB-0BE403B76129}" name="Di Cristo, Marco" initials="MD" userId="S::modt@gft.com::3a079b97-690c-4a35-a2a4-e0407bfc5f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8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48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44"/>
    </p:cViewPr>
  </p:sorterViewPr>
  <p:notesViewPr>
    <p:cSldViewPr snapToGrid="0">
      <p:cViewPr varScale="1">
        <p:scale>
          <a:sx n="61" d="100"/>
          <a:sy n="61" d="100"/>
        </p:scale>
        <p:origin x="316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modernComment_10E_65AB6B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0D6647-3AFA-4AD5-B46D-3EBAB6D8B9CC}" authorId="{A4A43800-FA29-A48A-09CB-0BE403B76129}" created="2025-04-04T08:04:03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05732888" sldId="270"/>
      <ac:spMk id="11" creationId="{213C4887-A379-7747-37AB-5C17D1215314}"/>
    </ac:deMkLst>
    <p188:txBody>
      <a:bodyPr/>
      <a:lstStyle/>
      <a:p>
        <a:r>
          <a:rPr lang="en-US"/>
          <a:t>Ci siamo concentrati su questi due perchè sono rilevanti in ambito hiring, e in letteratura hanno misure ben definite</a:t>
        </a:r>
      </a:p>
    </p188:txBody>
  </p188:cm>
</p188:cmLst>
</file>

<file path=ppt/comments/modernComment_10F_FDC2E3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6B6DBA-6F80-44BB-8E58-08E0C44B2D1A}" authorId="{A4A43800-FA29-A48A-09CB-0BE403B76129}" created="2025-04-04T08:04:50.5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57407930" sldId="271"/>
      <ac:spMk id="11" creationId="{F3631710-0D36-F117-004A-D526408696E1}"/>
    </ac:deMkLst>
    <p188:txBody>
      <a:bodyPr/>
      <a:lstStyle/>
      <a:p>
        <a:r>
          <a:rPr lang="en-US"/>
          <a:t>Dire alcuni esempi</a:t>
        </a:r>
      </a:p>
    </p188:txBody>
  </p188:cm>
</p188:cmLst>
</file>

<file path=ppt/comments/modernComment_11A_3D13B23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AC01A-6105-4BC6-8113-77D419B5A385}" authorId="{A4A43800-FA29-A48A-09CB-0BE403B76129}" created="2025-04-04T08:12:28.4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24700986" sldId="282"/>
      <ac:spMk id="7" creationId="{95059B2D-634E-6693-FAA0-3D4C247090BE}"/>
    </ac:deMkLst>
    <p188:txBody>
      <a:bodyPr/>
      <a:lstStyle/>
      <a:p>
        <a:r>
          <a:rPr lang="en-US"/>
          <a:t>Quando un valutatore mette questi valori, sta facendo degli aggiustamenti in base a dei ragionamenti, ma sta rendendo oggettiva la sua opinione.
Quindi abbiamo misura oggettiva della metrica + opinione oggettiva del valutatore </a:t>
        </a:r>
      </a:p>
    </p188:txBody>
  </p188:cm>
</p188:cmLst>
</file>

<file path=ppt/comments/modernComment_11C_F7746C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F615BD-2DEF-43A3-BB3C-6A689437BFAC}" authorId="{A4A43800-FA29-A48A-09CB-0BE403B76129}" created="2025-04-04T08:13:52.733">
    <pc:sldMkLst xmlns:pc="http://schemas.microsoft.com/office/powerpoint/2013/main/command">
      <pc:docMk/>
      <pc:sldMk cId="4151602357" sldId="284"/>
    </pc:sldMkLst>
    <p188:txBody>
      <a:bodyPr/>
      <a:lstStyle/>
      <a:p>
        <a:r>
          <a:rPr lang="en-US"/>
          <a:t>Peggioramento qualità del sistema</a:t>
        </a:r>
      </a:p>
    </p188:txBody>
  </p188:cm>
</p188:cmLst>
</file>

<file path=ppt/comments/modernComment_11E_49B698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C7C74E-5085-4D0D-9E7F-CABDF421758F}" authorId="{A4A43800-FA29-A48A-09CB-0BE403B76129}" created="2025-04-04T08:14:27.5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36703232" sldId="286"/>
      <ac:spMk id="6" creationId="{D55C7099-51E6-9301-43AF-46B52BEE682D}"/>
    </ac:deMkLst>
    <p188:txBody>
      <a:bodyPr/>
      <a:lstStyle/>
      <a:p>
        <a:r>
          <a:rPr lang="en-US"/>
          <a:t>Provare a riassumere</a:t>
        </a:r>
      </a:p>
    </p188:txBody>
  </p188:cm>
</p188:cmLst>
</file>

<file path=ppt/comments/modernComment_119_542150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310217-DB91-4D5D-A2E1-65390597A76C}" authorId="{A4A43800-FA29-A48A-09CB-0BE403B76129}" created="2025-04-04T08:06:53.2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11469470" sldId="281"/>
      <ac:spMk id="11" creationId="{722E4B14-2658-0FA5-9180-5351F59C4A0E}"/>
    </ac:deMkLst>
    <p188:replyLst>
      <p188:reply id="{8E584EE5-86B5-48E6-8C16-932C1403A97E}" authorId="{A4A43800-FA29-A48A-09CB-0BE403B76129}" created="2025-04-04T08:07:33.093">
        <p188:txBody>
          <a:bodyPr/>
          <a:lstStyle/>
          <a:p>
            <a:r>
              <a:rPr lang="en-US"/>
              <a:t>Noi diamo misure oggettive, ma ci rendiamo conto della limitata comprensione che le miusre hanno di un contesto compleso, dando possibilità all’umano di dare un peso</a:t>
            </a:r>
          </a:p>
        </p188:txBody>
      </p188:reply>
      <p188:reply id="{BBFF54BD-4DEB-41EF-B595-D69DE846B881}" authorId="{A4A43800-FA29-A48A-09CB-0BE403B76129}" created="2025-04-04T08:07:52.139">
        <p188:txBody>
          <a:bodyPr/>
          <a:lstStyle/>
          <a:p>
            <a:r>
              <a:rPr lang="en-US"/>
              <a:t>Human in the loop</a:t>
            </a:r>
          </a:p>
        </p188:txBody>
      </p188:reply>
      <p188:reply id="{3F0F6895-F69C-4052-9444-A75AEFB3CD07}" authorId="{A4A43800-FA29-A48A-09CB-0BE403B76129}" created="2025-04-04T08:10:54.388">
        <p188:txBody>
          <a:bodyPr/>
          <a:lstStyle/>
          <a:p>
            <a:r>
              <a:rPr lang="en-US"/>
              <a:t>In caso di dubbi, possiamo usa l’esempio disability del paper ( ad esempio in ambiti di sforzo fisico, potremmo diminuire gli impatti)</a:t>
            </a:r>
          </a:p>
        </p188:txBody>
      </p188:reply>
    </p188:replyLst>
    <p188:txBody>
      <a:bodyPr/>
      <a:lstStyle/>
      <a:p>
        <a:r>
          <a:rPr lang="en-US"/>
          <a:t>Spiegare il passo sul valutatore e valutazione umana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081FC7-8F10-4A4E-B7A4-88C0F762900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4959B-AF9B-4C8B-A75C-21EABF7C65A6}">
      <dgm:prSet/>
      <dgm:spPr/>
      <dgm:t>
        <a:bodyPr/>
        <a:lstStyle/>
        <a:p>
          <a:r>
            <a:rPr lang="en-US" dirty="0" err="1"/>
            <a:t>Generazione</a:t>
          </a:r>
          <a:r>
            <a:rPr lang="en-US" dirty="0"/>
            <a:t> del dataset</a:t>
          </a:r>
        </a:p>
      </dgm:t>
    </dgm:pt>
    <dgm:pt modelId="{29E0DF8D-20C7-404F-AA3B-91E8AF832B6C}" type="parTrans" cxnId="{7491F9DB-215A-4CCC-BBF4-191F70A32055}">
      <dgm:prSet/>
      <dgm:spPr/>
      <dgm:t>
        <a:bodyPr/>
        <a:lstStyle/>
        <a:p>
          <a:endParaRPr lang="en-US"/>
        </a:p>
      </dgm:t>
    </dgm:pt>
    <dgm:pt modelId="{F55E6AEA-4E4E-44FC-98E0-E6EE1B473073}" type="sibTrans" cxnId="{7491F9DB-215A-4CCC-BBF4-191F70A32055}">
      <dgm:prSet/>
      <dgm:spPr/>
      <dgm:t>
        <a:bodyPr/>
        <a:lstStyle/>
        <a:p>
          <a:endParaRPr lang="en-US"/>
        </a:p>
      </dgm:t>
    </dgm:pt>
    <dgm:pt modelId="{B5247FFA-D3EE-447D-B4CC-14C1DDA53791}">
      <dgm:prSet/>
      <dgm:spPr/>
      <dgm:t>
        <a:bodyPr/>
        <a:lstStyle/>
        <a:p>
          <a:r>
            <a:rPr lang="en-US"/>
            <a:t>Pre-Processing</a:t>
          </a:r>
        </a:p>
      </dgm:t>
    </dgm:pt>
    <dgm:pt modelId="{D1FD96DE-8B42-4DA2-99FD-7EB4FFCD08B7}" type="parTrans" cxnId="{9AAD9A32-5AE5-4BFB-836D-EC1CB681F098}">
      <dgm:prSet/>
      <dgm:spPr/>
      <dgm:t>
        <a:bodyPr/>
        <a:lstStyle/>
        <a:p>
          <a:endParaRPr lang="en-US"/>
        </a:p>
      </dgm:t>
    </dgm:pt>
    <dgm:pt modelId="{F9E06174-CB7E-4F78-A21E-B42E53A7D47D}" type="sibTrans" cxnId="{9AAD9A32-5AE5-4BFB-836D-EC1CB681F098}">
      <dgm:prSet/>
      <dgm:spPr/>
      <dgm:t>
        <a:bodyPr/>
        <a:lstStyle/>
        <a:p>
          <a:endParaRPr lang="en-US"/>
        </a:p>
      </dgm:t>
    </dgm:pt>
    <dgm:pt modelId="{01462804-5D2E-4479-A1A1-C0739A3DB060}">
      <dgm:prSet/>
      <dgm:spPr/>
      <dgm:t>
        <a:bodyPr/>
        <a:lstStyle/>
        <a:p>
          <a:r>
            <a:rPr lang="en-US" dirty="0" err="1"/>
            <a:t>Addestramento</a:t>
          </a:r>
          <a:r>
            <a:rPr lang="en-US" dirty="0"/>
            <a:t> </a:t>
          </a:r>
          <a:r>
            <a:rPr lang="en-US" dirty="0" err="1"/>
            <a:t>Modello</a:t>
          </a:r>
          <a:endParaRPr lang="en-US" dirty="0"/>
        </a:p>
      </dgm:t>
    </dgm:pt>
    <dgm:pt modelId="{24F6CE6C-32C4-4EA6-8B97-A84D11CD5161}" type="parTrans" cxnId="{25256974-830D-46A1-BEAA-F930AECE1A79}">
      <dgm:prSet/>
      <dgm:spPr/>
      <dgm:t>
        <a:bodyPr/>
        <a:lstStyle/>
        <a:p>
          <a:endParaRPr lang="en-US"/>
        </a:p>
      </dgm:t>
    </dgm:pt>
    <dgm:pt modelId="{27EB34D0-E81E-45DF-8625-DE76BC64846A}" type="sibTrans" cxnId="{25256974-830D-46A1-BEAA-F930AECE1A79}">
      <dgm:prSet/>
      <dgm:spPr/>
      <dgm:t>
        <a:bodyPr/>
        <a:lstStyle/>
        <a:p>
          <a:endParaRPr lang="en-US"/>
        </a:p>
      </dgm:t>
    </dgm:pt>
    <dgm:pt modelId="{2F87F19F-93C6-4886-90DA-5FEBA99EC439}">
      <dgm:prSet/>
      <dgm:spPr/>
      <dgm:t>
        <a:bodyPr/>
        <a:lstStyle/>
        <a:p>
          <a:r>
            <a:rPr lang="en-US"/>
            <a:t>Calcolo delle metriche</a:t>
          </a:r>
        </a:p>
      </dgm:t>
    </dgm:pt>
    <dgm:pt modelId="{9488FCA8-657D-44D3-9DAE-B282389A0AAA}" type="parTrans" cxnId="{B919F2C0-0CD3-416E-8BCF-D186FEFFED20}">
      <dgm:prSet/>
      <dgm:spPr/>
      <dgm:t>
        <a:bodyPr/>
        <a:lstStyle/>
        <a:p>
          <a:endParaRPr lang="en-US"/>
        </a:p>
      </dgm:t>
    </dgm:pt>
    <dgm:pt modelId="{4492EFB8-C0E6-4563-A1D8-DA8C79BDC528}" type="sibTrans" cxnId="{B919F2C0-0CD3-416E-8BCF-D186FEFFED20}">
      <dgm:prSet/>
      <dgm:spPr/>
      <dgm:t>
        <a:bodyPr/>
        <a:lstStyle/>
        <a:p>
          <a:endParaRPr lang="en-US"/>
        </a:p>
      </dgm:t>
    </dgm:pt>
    <dgm:pt modelId="{0ED9A2DB-D454-4BA8-A172-FFD96E3FC647}">
      <dgm:prSet/>
      <dgm:spPr/>
      <dgm:t>
        <a:bodyPr/>
        <a:lstStyle/>
        <a:p>
          <a:r>
            <a:rPr lang="en-US"/>
            <a:t>Visualizzazione Metriche</a:t>
          </a:r>
        </a:p>
      </dgm:t>
    </dgm:pt>
    <dgm:pt modelId="{C97A90AC-9023-45E1-BAB4-B37C9B83495A}" type="parTrans" cxnId="{96B6D66F-26E8-459F-A07B-DC9A149DD182}">
      <dgm:prSet/>
      <dgm:spPr/>
      <dgm:t>
        <a:bodyPr/>
        <a:lstStyle/>
        <a:p>
          <a:endParaRPr lang="en-US"/>
        </a:p>
      </dgm:t>
    </dgm:pt>
    <dgm:pt modelId="{7AB0D7EE-24E3-410F-B6F1-F30A1D7170BF}" type="sibTrans" cxnId="{96B6D66F-26E8-459F-A07B-DC9A149DD182}">
      <dgm:prSet/>
      <dgm:spPr/>
      <dgm:t>
        <a:bodyPr/>
        <a:lstStyle/>
        <a:p>
          <a:endParaRPr lang="en-US"/>
        </a:p>
      </dgm:t>
    </dgm:pt>
    <dgm:pt modelId="{0D40F5BB-7FAF-450A-8869-DD1F531D9EEF}">
      <dgm:prSet/>
      <dgm:spPr/>
      <dgm:t>
        <a:bodyPr/>
        <a:lstStyle/>
        <a:p>
          <a:r>
            <a:rPr lang="en-US" dirty="0" err="1"/>
            <a:t>Analisi</a:t>
          </a:r>
          <a:r>
            <a:rPr lang="en-US" dirty="0"/>
            <a:t> </a:t>
          </a:r>
          <a:r>
            <a:rPr lang="en-US" dirty="0" err="1"/>
            <a:t>metriche</a:t>
          </a:r>
          <a:r>
            <a:rPr lang="en-US" dirty="0"/>
            <a:t> e </a:t>
          </a:r>
          <a:r>
            <a:rPr lang="en-US" dirty="0" err="1"/>
            <a:t>compilazione</a:t>
          </a:r>
          <a:r>
            <a:rPr lang="en-US" dirty="0"/>
            <a:t> form con </a:t>
          </a:r>
          <a:r>
            <a:rPr lang="en-US" dirty="0" err="1"/>
            <a:t>collegamento</a:t>
          </a:r>
          <a:r>
            <a:rPr lang="en-US" dirty="0"/>
            <a:t> ai </a:t>
          </a:r>
          <a:r>
            <a:rPr lang="en-US" dirty="0" err="1"/>
            <a:t>diritti</a:t>
          </a:r>
          <a:r>
            <a:rPr lang="en-US" dirty="0"/>
            <a:t> </a:t>
          </a:r>
          <a:r>
            <a:rPr lang="en-US" dirty="0" err="1"/>
            <a:t>fondamentali</a:t>
          </a:r>
          <a:endParaRPr lang="en-US" dirty="0"/>
        </a:p>
      </dgm:t>
    </dgm:pt>
    <dgm:pt modelId="{FB456BC2-289F-44B4-96EC-24F1B4E5B418}" type="parTrans" cxnId="{53400905-FF5B-453E-B3D9-A7869EA454F6}">
      <dgm:prSet/>
      <dgm:spPr/>
      <dgm:t>
        <a:bodyPr/>
        <a:lstStyle/>
        <a:p>
          <a:endParaRPr lang="en-US"/>
        </a:p>
      </dgm:t>
    </dgm:pt>
    <dgm:pt modelId="{D43DB015-1FF3-4696-BF04-F4C28E56FC31}" type="sibTrans" cxnId="{53400905-FF5B-453E-B3D9-A7869EA454F6}">
      <dgm:prSet/>
      <dgm:spPr/>
      <dgm:t>
        <a:bodyPr/>
        <a:lstStyle/>
        <a:p>
          <a:endParaRPr lang="en-US"/>
        </a:p>
      </dgm:t>
    </dgm:pt>
    <dgm:pt modelId="{B08449F8-92EB-4EEA-B7E7-7E765A2C6034}" type="pres">
      <dgm:prSet presAssocID="{95081FC7-8F10-4A4E-B7A4-88C0F76290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1135041-899C-4FB9-AF6B-429B8E3DEA67}" type="pres">
      <dgm:prSet presAssocID="{C8E4959B-AF9B-4C8B-A75C-21EABF7C65A6}" presName="hierRoot1" presStyleCnt="0"/>
      <dgm:spPr/>
    </dgm:pt>
    <dgm:pt modelId="{25E0F1D4-7DD0-4D90-8B7E-5AE23433E26F}" type="pres">
      <dgm:prSet presAssocID="{C8E4959B-AF9B-4C8B-A75C-21EABF7C65A6}" presName="composite" presStyleCnt="0"/>
      <dgm:spPr/>
    </dgm:pt>
    <dgm:pt modelId="{54976990-DD75-4ACA-AC62-2F78A0D2AF48}" type="pres">
      <dgm:prSet presAssocID="{C8E4959B-AF9B-4C8B-A75C-21EABF7C65A6}" presName="background" presStyleLbl="node0" presStyleIdx="0" presStyleCnt="6"/>
      <dgm:spPr/>
    </dgm:pt>
    <dgm:pt modelId="{89A18370-FD6E-4E21-83EF-E89EB72D137E}" type="pres">
      <dgm:prSet presAssocID="{C8E4959B-AF9B-4C8B-A75C-21EABF7C65A6}" presName="text" presStyleLbl="fgAcc0" presStyleIdx="0" presStyleCnt="6">
        <dgm:presLayoutVars>
          <dgm:chPref val="3"/>
        </dgm:presLayoutVars>
      </dgm:prSet>
      <dgm:spPr/>
    </dgm:pt>
    <dgm:pt modelId="{A9129899-2747-4370-AC5F-197FDFEF6D65}" type="pres">
      <dgm:prSet presAssocID="{C8E4959B-AF9B-4C8B-A75C-21EABF7C65A6}" presName="hierChild2" presStyleCnt="0"/>
      <dgm:spPr/>
    </dgm:pt>
    <dgm:pt modelId="{066F46CC-39F7-4333-B376-DE12CE9832A3}" type="pres">
      <dgm:prSet presAssocID="{B5247FFA-D3EE-447D-B4CC-14C1DDA53791}" presName="hierRoot1" presStyleCnt="0"/>
      <dgm:spPr/>
    </dgm:pt>
    <dgm:pt modelId="{00F041D5-05F6-419C-A49D-FDF245F52B21}" type="pres">
      <dgm:prSet presAssocID="{B5247FFA-D3EE-447D-B4CC-14C1DDA53791}" presName="composite" presStyleCnt="0"/>
      <dgm:spPr/>
    </dgm:pt>
    <dgm:pt modelId="{5E243080-45EF-499A-8C6E-65C201F47643}" type="pres">
      <dgm:prSet presAssocID="{B5247FFA-D3EE-447D-B4CC-14C1DDA53791}" presName="background" presStyleLbl="node0" presStyleIdx="1" presStyleCnt="6"/>
      <dgm:spPr/>
    </dgm:pt>
    <dgm:pt modelId="{8BAEC9C8-983F-46C7-9675-F189B7A0BDE2}" type="pres">
      <dgm:prSet presAssocID="{B5247FFA-D3EE-447D-B4CC-14C1DDA53791}" presName="text" presStyleLbl="fgAcc0" presStyleIdx="1" presStyleCnt="6">
        <dgm:presLayoutVars>
          <dgm:chPref val="3"/>
        </dgm:presLayoutVars>
      </dgm:prSet>
      <dgm:spPr/>
    </dgm:pt>
    <dgm:pt modelId="{C4931F8A-CA88-4DD8-9066-F76460D38886}" type="pres">
      <dgm:prSet presAssocID="{B5247FFA-D3EE-447D-B4CC-14C1DDA53791}" presName="hierChild2" presStyleCnt="0"/>
      <dgm:spPr/>
    </dgm:pt>
    <dgm:pt modelId="{5E804C41-5B20-46C4-8AE5-252715ADE2E7}" type="pres">
      <dgm:prSet presAssocID="{01462804-5D2E-4479-A1A1-C0739A3DB060}" presName="hierRoot1" presStyleCnt="0"/>
      <dgm:spPr/>
    </dgm:pt>
    <dgm:pt modelId="{C102DF8A-B650-46D5-B3BB-F78A34CC66E8}" type="pres">
      <dgm:prSet presAssocID="{01462804-5D2E-4479-A1A1-C0739A3DB060}" presName="composite" presStyleCnt="0"/>
      <dgm:spPr/>
    </dgm:pt>
    <dgm:pt modelId="{EC222093-8CDF-4756-8677-CE6199FF90E5}" type="pres">
      <dgm:prSet presAssocID="{01462804-5D2E-4479-A1A1-C0739A3DB060}" presName="background" presStyleLbl="node0" presStyleIdx="2" presStyleCnt="6"/>
      <dgm:spPr/>
    </dgm:pt>
    <dgm:pt modelId="{EBEFD80D-0107-4D7B-A5DB-DFE9264E61AC}" type="pres">
      <dgm:prSet presAssocID="{01462804-5D2E-4479-A1A1-C0739A3DB060}" presName="text" presStyleLbl="fgAcc0" presStyleIdx="2" presStyleCnt="6">
        <dgm:presLayoutVars>
          <dgm:chPref val="3"/>
        </dgm:presLayoutVars>
      </dgm:prSet>
      <dgm:spPr/>
    </dgm:pt>
    <dgm:pt modelId="{58370925-AE75-4119-B915-2AA12FE5758B}" type="pres">
      <dgm:prSet presAssocID="{01462804-5D2E-4479-A1A1-C0739A3DB060}" presName="hierChild2" presStyleCnt="0"/>
      <dgm:spPr/>
    </dgm:pt>
    <dgm:pt modelId="{50709304-AE3B-469F-A766-9945EE5528D1}" type="pres">
      <dgm:prSet presAssocID="{2F87F19F-93C6-4886-90DA-5FEBA99EC439}" presName="hierRoot1" presStyleCnt="0"/>
      <dgm:spPr/>
    </dgm:pt>
    <dgm:pt modelId="{B61FB6E7-A417-4ADA-AB24-C7F4808956B3}" type="pres">
      <dgm:prSet presAssocID="{2F87F19F-93C6-4886-90DA-5FEBA99EC439}" presName="composite" presStyleCnt="0"/>
      <dgm:spPr/>
    </dgm:pt>
    <dgm:pt modelId="{21E13917-529D-4C30-87AD-EE8B3B3D823F}" type="pres">
      <dgm:prSet presAssocID="{2F87F19F-93C6-4886-90DA-5FEBA99EC439}" presName="background" presStyleLbl="node0" presStyleIdx="3" presStyleCnt="6"/>
      <dgm:spPr/>
    </dgm:pt>
    <dgm:pt modelId="{9A3ED19C-DDFD-409F-9424-70123CE68F67}" type="pres">
      <dgm:prSet presAssocID="{2F87F19F-93C6-4886-90DA-5FEBA99EC439}" presName="text" presStyleLbl="fgAcc0" presStyleIdx="3" presStyleCnt="6">
        <dgm:presLayoutVars>
          <dgm:chPref val="3"/>
        </dgm:presLayoutVars>
      </dgm:prSet>
      <dgm:spPr/>
    </dgm:pt>
    <dgm:pt modelId="{BCD454D5-6936-48CF-8CB6-FF7D0D429961}" type="pres">
      <dgm:prSet presAssocID="{2F87F19F-93C6-4886-90DA-5FEBA99EC439}" presName="hierChild2" presStyleCnt="0"/>
      <dgm:spPr/>
    </dgm:pt>
    <dgm:pt modelId="{EB2723A0-2BC2-497E-AF6B-81D261441497}" type="pres">
      <dgm:prSet presAssocID="{0ED9A2DB-D454-4BA8-A172-FFD96E3FC647}" presName="hierRoot1" presStyleCnt="0"/>
      <dgm:spPr/>
    </dgm:pt>
    <dgm:pt modelId="{A977FBBE-3516-446F-98C9-9ED8D3F4C223}" type="pres">
      <dgm:prSet presAssocID="{0ED9A2DB-D454-4BA8-A172-FFD96E3FC647}" presName="composite" presStyleCnt="0"/>
      <dgm:spPr/>
    </dgm:pt>
    <dgm:pt modelId="{A216795E-EC0F-4320-8566-17A99C67BE5A}" type="pres">
      <dgm:prSet presAssocID="{0ED9A2DB-D454-4BA8-A172-FFD96E3FC647}" presName="background" presStyleLbl="node0" presStyleIdx="4" presStyleCnt="6"/>
      <dgm:spPr/>
    </dgm:pt>
    <dgm:pt modelId="{4E32EEB8-CCAB-4076-958B-3E7093D13545}" type="pres">
      <dgm:prSet presAssocID="{0ED9A2DB-D454-4BA8-A172-FFD96E3FC647}" presName="text" presStyleLbl="fgAcc0" presStyleIdx="4" presStyleCnt="6">
        <dgm:presLayoutVars>
          <dgm:chPref val="3"/>
        </dgm:presLayoutVars>
      </dgm:prSet>
      <dgm:spPr/>
    </dgm:pt>
    <dgm:pt modelId="{2A884D5E-FA25-49FD-B43E-81D98EBB12F6}" type="pres">
      <dgm:prSet presAssocID="{0ED9A2DB-D454-4BA8-A172-FFD96E3FC647}" presName="hierChild2" presStyleCnt="0"/>
      <dgm:spPr/>
    </dgm:pt>
    <dgm:pt modelId="{C344AF7C-9FD8-4E77-ACB4-59A4FA21C9D6}" type="pres">
      <dgm:prSet presAssocID="{0D40F5BB-7FAF-450A-8869-DD1F531D9EEF}" presName="hierRoot1" presStyleCnt="0"/>
      <dgm:spPr/>
    </dgm:pt>
    <dgm:pt modelId="{732BFA66-B651-474D-B7BC-2E17B6FB2A33}" type="pres">
      <dgm:prSet presAssocID="{0D40F5BB-7FAF-450A-8869-DD1F531D9EEF}" presName="composite" presStyleCnt="0"/>
      <dgm:spPr/>
    </dgm:pt>
    <dgm:pt modelId="{C3CC2807-034E-46C7-AB60-B66D3649CEA3}" type="pres">
      <dgm:prSet presAssocID="{0D40F5BB-7FAF-450A-8869-DD1F531D9EEF}" presName="background" presStyleLbl="node0" presStyleIdx="5" presStyleCnt="6"/>
      <dgm:spPr/>
    </dgm:pt>
    <dgm:pt modelId="{A77F0937-A308-4D0B-8E9E-663FE8B924DD}" type="pres">
      <dgm:prSet presAssocID="{0D40F5BB-7FAF-450A-8869-DD1F531D9EEF}" presName="text" presStyleLbl="fgAcc0" presStyleIdx="5" presStyleCnt="6">
        <dgm:presLayoutVars>
          <dgm:chPref val="3"/>
        </dgm:presLayoutVars>
      </dgm:prSet>
      <dgm:spPr/>
    </dgm:pt>
    <dgm:pt modelId="{E6AE8574-A45C-43B0-8333-C331ED13E936}" type="pres">
      <dgm:prSet presAssocID="{0D40F5BB-7FAF-450A-8869-DD1F531D9EEF}" presName="hierChild2" presStyleCnt="0"/>
      <dgm:spPr/>
    </dgm:pt>
  </dgm:ptLst>
  <dgm:cxnLst>
    <dgm:cxn modelId="{53400905-FF5B-453E-B3D9-A7869EA454F6}" srcId="{95081FC7-8F10-4A4E-B7A4-88C0F7629002}" destId="{0D40F5BB-7FAF-450A-8869-DD1F531D9EEF}" srcOrd="5" destOrd="0" parTransId="{FB456BC2-289F-44B4-96EC-24F1B4E5B418}" sibTransId="{D43DB015-1FF3-4696-BF04-F4C28E56FC31}"/>
    <dgm:cxn modelId="{8B79022D-FC1C-4636-8F96-3A8BDFDA33D1}" type="presOf" srcId="{B5247FFA-D3EE-447D-B4CC-14C1DDA53791}" destId="{8BAEC9C8-983F-46C7-9675-F189B7A0BDE2}" srcOrd="0" destOrd="0" presId="urn:microsoft.com/office/officeart/2005/8/layout/hierarchy1"/>
    <dgm:cxn modelId="{9AAD9A32-5AE5-4BFB-836D-EC1CB681F098}" srcId="{95081FC7-8F10-4A4E-B7A4-88C0F7629002}" destId="{B5247FFA-D3EE-447D-B4CC-14C1DDA53791}" srcOrd="1" destOrd="0" parTransId="{D1FD96DE-8B42-4DA2-99FD-7EB4FFCD08B7}" sibTransId="{F9E06174-CB7E-4F78-A21E-B42E53A7D47D}"/>
    <dgm:cxn modelId="{96B6D66F-26E8-459F-A07B-DC9A149DD182}" srcId="{95081FC7-8F10-4A4E-B7A4-88C0F7629002}" destId="{0ED9A2DB-D454-4BA8-A172-FFD96E3FC647}" srcOrd="4" destOrd="0" parTransId="{C97A90AC-9023-45E1-BAB4-B37C9B83495A}" sibTransId="{7AB0D7EE-24E3-410F-B6F1-F30A1D7170BF}"/>
    <dgm:cxn modelId="{25256974-830D-46A1-BEAA-F930AECE1A79}" srcId="{95081FC7-8F10-4A4E-B7A4-88C0F7629002}" destId="{01462804-5D2E-4479-A1A1-C0739A3DB060}" srcOrd="2" destOrd="0" parTransId="{24F6CE6C-32C4-4EA6-8B97-A84D11CD5161}" sibTransId="{27EB34D0-E81E-45DF-8625-DE76BC64846A}"/>
    <dgm:cxn modelId="{A89E3B82-C54E-4A60-8F01-CC16AEBB2547}" type="presOf" srcId="{95081FC7-8F10-4A4E-B7A4-88C0F7629002}" destId="{B08449F8-92EB-4EEA-B7E7-7E765A2C6034}" srcOrd="0" destOrd="0" presId="urn:microsoft.com/office/officeart/2005/8/layout/hierarchy1"/>
    <dgm:cxn modelId="{5794D794-666B-4419-A5FF-3664A93C54EE}" type="presOf" srcId="{0D40F5BB-7FAF-450A-8869-DD1F531D9EEF}" destId="{A77F0937-A308-4D0B-8E9E-663FE8B924DD}" srcOrd="0" destOrd="0" presId="urn:microsoft.com/office/officeart/2005/8/layout/hierarchy1"/>
    <dgm:cxn modelId="{B919F2C0-0CD3-416E-8BCF-D186FEFFED20}" srcId="{95081FC7-8F10-4A4E-B7A4-88C0F7629002}" destId="{2F87F19F-93C6-4886-90DA-5FEBA99EC439}" srcOrd="3" destOrd="0" parTransId="{9488FCA8-657D-44D3-9DAE-B282389A0AAA}" sibTransId="{4492EFB8-C0E6-4563-A1D8-DA8C79BDC528}"/>
    <dgm:cxn modelId="{F860E4D7-EB7C-4E77-8179-0432FC7B7F9E}" type="presOf" srcId="{0ED9A2DB-D454-4BA8-A172-FFD96E3FC647}" destId="{4E32EEB8-CCAB-4076-958B-3E7093D13545}" srcOrd="0" destOrd="0" presId="urn:microsoft.com/office/officeart/2005/8/layout/hierarchy1"/>
    <dgm:cxn modelId="{7491F9DB-215A-4CCC-BBF4-191F70A32055}" srcId="{95081FC7-8F10-4A4E-B7A4-88C0F7629002}" destId="{C8E4959B-AF9B-4C8B-A75C-21EABF7C65A6}" srcOrd="0" destOrd="0" parTransId="{29E0DF8D-20C7-404F-AA3B-91E8AF832B6C}" sibTransId="{F55E6AEA-4E4E-44FC-98E0-E6EE1B473073}"/>
    <dgm:cxn modelId="{4C35E8DC-0C95-4872-8E6B-003F99658B54}" type="presOf" srcId="{C8E4959B-AF9B-4C8B-A75C-21EABF7C65A6}" destId="{89A18370-FD6E-4E21-83EF-E89EB72D137E}" srcOrd="0" destOrd="0" presId="urn:microsoft.com/office/officeart/2005/8/layout/hierarchy1"/>
    <dgm:cxn modelId="{CBD6D4E7-AD76-4B86-9E95-8076FE687395}" type="presOf" srcId="{2F87F19F-93C6-4886-90DA-5FEBA99EC439}" destId="{9A3ED19C-DDFD-409F-9424-70123CE68F67}" srcOrd="0" destOrd="0" presId="urn:microsoft.com/office/officeart/2005/8/layout/hierarchy1"/>
    <dgm:cxn modelId="{044017FA-4F59-4DF2-A73B-D3F947374C9A}" type="presOf" srcId="{01462804-5D2E-4479-A1A1-C0739A3DB060}" destId="{EBEFD80D-0107-4D7B-A5DB-DFE9264E61AC}" srcOrd="0" destOrd="0" presId="urn:microsoft.com/office/officeart/2005/8/layout/hierarchy1"/>
    <dgm:cxn modelId="{476D6434-F795-4444-993F-71239753E751}" type="presParOf" srcId="{B08449F8-92EB-4EEA-B7E7-7E765A2C6034}" destId="{F1135041-899C-4FB9-AF6B-429B8E3DEA67}" srcOrd="0" destOrd="0" presId="urn:microsoft.com/office/officeart/2005/8/layout/hierarchy1"/>
    <dgm:cxn modelId="{D4260814-01DC-4DAE-9B9F-77F1A0ED3855}" type="presParOf" srcId="{F1135041-899C-4FB9-AF6B-429B8E3DEA67}" destId="{25E0F1D4-7DD0-4D90-8B7E-5AE23433E26F}" srcOrd="0" destOrd="0" presId="urn:microsoft.com/office/officeart/2005/8/layout/hierarchy1"/>
    <dgm:cxn modelId="{3441A857-C22E-40A1-B99A-5EA427748780}" type="presParOf" srcId="{25E0F1D4-7DD0-4D90-8B7E-5AE23433E26F}" destId="{54976990-DD75-4ACA-AC62-2F78A0D2AF48}" srcOrd="0" destOrd="0" presId="urn:microsoft.com/office/officeart/2005/8/layout/hierarchy1"/>
    <dgm:cxn modelId="{FD4FD93B-00D1-4873-94C1-0B1EBEEA73FA}" type="presParOf" srcId="{25E0F1D4-7DD0-4D90-8B7E-5AE23433E26F}" destId="{89A18370-FD6E-4E21-83EF-E89EB72D137E}" srcOrd="1" destOrd="0" presId="urn:microsoft.com/office/officeart/2005/8/layout/hierarchy1"/>
    <dgm:cxn modelId="{F9552DC7-36E3-4D1E-8304-AB345D422EE6}" type="presParOf" srcId="{F1135041-899C-4FB9-AF6B-429B8E3DEA67}" destId="{A9129899-2747-4370-AC5F-197FDFEF6D65}" srcOrd="1" destOrd="0" presId="urn:microsoft.com/office/officeart/2005/8/layout/hierarchy1"/>
    <dgm:cxn modelId="{F6E785F7-2551-437C-B50F-F3DF14DE9944}" type="presParOf" srcId="{B08449F8-92EB-4EEA-B7E7-7E765A2C6034}" destId="{066F46CC-39F7-4333-B376-DE12CE9832A3}" srcOrd="1" destOrd="0" presId="urn:microsoft.com/office/officeart/2005/8/layout/hierarchy1"/>
    <dgm:cxn modelId="{D8F38752-252A-4504-BB94-C6355EA2B578}" type="presParOf" srcId="{066F46CC-39F7-4333-B376-DE12CE9832A3}" destId="{00F041D5-05F6-419C-A49D-FDF245F52B21}" srcOrd="0" destOrd="0" presId="urn:microsoft.com/office/officeart/2005/8/layout/hierarchy1"/>
    <dgm:cxn modelId="{20888D36-97AF-43EA-A568-E4E37488685E}" type="presParOf" srcId="{00F041D5-05F6-419C-A49D-FDF245F52B21}" destId="{5E243080-45EF-499A-8C6E-65C201F47643}" srcOrd="0" destOrd="0" presId="urn:microsoft.com/office/officeart/2005/8/layout/hierarchy1"/>
    <dgm:cxn modelId="{64067823-6AEE-4512-B49B-0765BF434478}" type="presParOf" srcId="{00F041D5-05F6-419C-A49D-FDF245F52B21}" destId="{8BAEC9C8-983F-46C7-9675-F189B7A0BDE2}" srcOrd="1" destOrd="0" presId="urn:microsoft.com/office/officeart/2005/8/layout/hierarchy1"/>
    <dgm:cxn modelId="{6D6116AC-710A-4661-B43A-A11962AB1EEB}" type="presParOf" srcId="{066F46CC-39F7-4333-B376-DE12CE9832A3}" destId="{C4931F8A-CA88-4DD8-9066-F76460D38886}" srcOrd="1" destOrd="0" presId="urn:microsoft.com/office/officeart/2005/8/layout/hierarchy1"/>
    <dgm:cxn modelId="{976545E6-17C3-4144-B531-CCA6C7A70B05}" type="presParOf" srcId="{B08449F8-92EB-4EEA-B7E7-7E765A2C6034}" destId="{5E804C41-5B20-46C4-8AE5-252715ADE2E7}" srcOrd="2" destOrd="0" presId="urn:microsoft.com/office/officeart/2005/8/layout/hierarchy1"/>
    <dgm:cxn modelId="{E4C1218B-C97C-41D5-B609-BC812257454D}" type="presParOf" srcId="{5E804C41-5B20-46C4-8AE5-252715ADE2E7}" destId="{C102DF8A-B650-46D5-B3BB-F78A34CC66E8}" srcOrd="0" destOrd="0" presId="urn:microsoft.com/office/officeart/2005/8/layout/hierarchy1"/>
    <dgm:cxn modelId="{7ECFF7E0-7673-4C2D-B4B1-5D6F91AFF632}" type="presParOf" srcId="{C102DF8A-B650-46D5-B3BB-F78A34CC66E8}" destId="{EC222093-8CDF-4756-8677-CE6199FF90E5}" srcOrd="0" destOrd="0" presId="urn:microsoft.com/office/officeart/2005/8/layout/hierarchy1"/>
    <dgm:cxn modelId="{92186138-7D98-484B-9FC3-F1C1E84319D5}" type="presParOf" srcId="{C102DF8A-B650-46D5-B3BB-F78A34CC66E8}" destId="{EBEFD80D-0107-4D7B-A5DB-DFE9264E61AC}" srcOrd="1" destOrd="0" presId="urn:microsoft.com/office/officeart/2005/8/layout/hierarchy1"/>
    <dgm:cxn modelId="{351C4273-D733-4C84-8917-7236BE8A0772}" type="presParOf" srcId="{5E804C41-5B20-46C4-8AE5-252715ADE2E7}" destId="{58370925-AE75-4119-B915-2AA12FE5758B}" srcOrd="1" destOrd="0" presId="urn:microsoft.com/office/officeart/2005/8/layout/hierarchy1"/>
    <dgm:cxn modelId="{4D3C70DB-8517-42CA-885A-651830125586}" type="presParOf" srcId="{B08449F8-92EB-4EEA-B7E7-7E765A2C6034}" destId="{50709304-AE3B-469F-A766-9945EE5528D1}" srcOrd="3" destOrd="0" presId="urn:microsoft.com/office/officeart/2005/8/layout/hierarchy1"/>
    <dgm:cxn modelId="{3EAE20E3-1C48-45E7-8438-66B8C1F4FEC5}" type="presParOf" srcId="{50709304-AE3B-469F-A766-9945EE5528D1}" destId="{B61FB6E7-A417-4ADA-AB24-C7F4808956B3}" srcOrd="0" destOrd="0" presId="urn:microsoft.com/office/officeart/2005/8/layout/hierarchy1"/>
    <dgm:cxn modelId="{8F6423AC-A12A-4395-90D7-E5EF39653581}" type="presParOf" srcId="{B61FB6E7-A417-4ADA-AB24-C7F4808956B3}" destId="{21E13917-529D-4C30-87AD-EE8B3B3D823F}" srcOrd="0" destOrd="0" presId="urn:microsoft.com/office/officeart/2005/8/layout/hierarchy1"/>
    <dgm:cxn modelId="{ADF5A063-0C2D-4466-A5BE-783A0BCF647E}" type="presParOf" srcId="{B61FB6E7-A417-4ADA-AB24-C7F4808956B3}" destId="{9A3ED19C-DDFD-409F-9424-70123CE68F67}" srcOrd="1" destOrd="0" presId="urn:microsoft.com/office/officeart/2005/8/layout/hierarchy1"/>
    <dgm:cxn modelId="{9422321E-580A-4253-A4B3-0615425030F5}" type="presParOf" srcId="{50709304-AE3B-469F-A766-9945EE5528D1}" destId="{BCD454D5-6936-48CF-8CB6-FF7D0D429961}" srcOrd="1" destOrd="0" presId="urn:microsoft.com/office/officeart/2005/8/layout/hierarchy1"/>
    <dgm:cxn modelId="{EE3888D0-F57A-49A5-A0A0-DDB923D5A00F}" type="presParOf" srcId="{B08449F8-92EB-4EEA-B7E7-7E765A2C6034}" destId="{EB2723A0-2BC2-497E-AF6B-81D261441497}" srcOrd="4" destOrd="0" presId="urn:microsoft.com/office/officeart/2005/8/layout/hierarchy1"/>
    <dgm:cxn modelId="{D2385DE2-7662-4729-960A-5AD1F41D1485}" type="presParOf" srcId="{EB2723A0-2BC2-497E-AF6B-81D261441497}" destId="{A977FBBE-3516-446F-98C9-9ED8D3F4C223}" srcOrd="0" destOrd="0" presId="urn:microsoft.com/office/officeart/2005/8/layout/hierarchy1"/>
    <dgm:cxn modelId="{8BBE1CE3-4F92-4445-AD1F-8DDB68BDF461}" type="presParOf" srcId="{A977FBBE-3516-446F-98C9-9ED8D3F4C223}" destId="{A216795E-EC0F-4320-8566-17A99C67BE5A}" srcOrd="0" destOrd="0" presId="urn:microsoft.com/office/officeart/2005/8/layout/hierarchy1"/>
    <dgm:cxn modelId="{9AF55AAE-72A4-45FA-B0F3-8A87995A3ABF}" type="presParOf" srcId="{A977FBBE-3516-446F-98C9-9ED8D3F4C223}" destId="{4E32EEB8-CCAB-4076-958B-3E7093D13545}" srcOrd="1" destOrd="0" presId="urn:microsoft.com/office/officeart/2005/8/layout/hierarchy1"/>
    <dgm:cxn modelId="{14160F7D-D031-45C8-93ED-35D111ED03BD}" type="presParOf" srcId="{EB2723A0-2BC2-497E-AF6B-81D261441497}" destId="{2A884D5E-FA25-49FD-B43E-81D98EBB12F6}" srcOrd="1" destOrd="0" presId="urn:microsoft.com/office/officeart/2005/8/layout/hierarchy1"/>
    <dgm:cxn modelId="{CE4F371D-B8FF-40CC-A075-61574CF94E67}" type="presParOf" srcId="{B08449F8-92EB-4EEA-B7E7-7E765A2C6034}" destId="{C344AF7C-9FD8-4E77-ACB4-59A4FA21C9D6}" srcOrd="5" destOrd="0" presId="urn:microsoft.com/office/officeart/2005/8/layout/hierarchy1"/>
    <dgm:cxn modelId="{7E6CE97E-47ED-4577-B386-DB1F6DD38ED3}" type="presParOf" srcId="{C344AF7C-9FD8-4E77-ACB4-59A4FA21C9D6}" destId="{732BFA66-B651-474D-B7BC-2E17B6FB2A33}" srcOrd="0" destOrd="0" presId="urn:microsoft.com/office/officeart/2005/8/layout/hierarchy1"/>
    <dgm:cxn modelId="{26521568-BEAD-470F-8C95-AA441F5386F7}" type="presParOf" srcId="{732BFA66-B651-474D-B7BC-2E17B6FB2A33}" destId="{C3CC2807-034E-46C7-AB60-B66D3649CEA3}" srcOrd="0" destOrd="0" presId="urn:microsoft.com/office/officeart/2005/8/layout/hierarchy1"/>
    <dgm:cxn modelId="{5F991E49-9B61-41DA-945E-7B5A1BC79C9C}" type="presParOf" srcId="{732BFA66-B651-474D-B7BC-2E17B6FB2A33}" destId="{A77F0937-A308-4D0B-8E9E-663FE8B924DD}" srcOrd="1" destOrd="0" presId="urn:microsoft.com/office/officeart/2005/8/layout/hierarchy1"/>
    <dgm:cxn modelId="{16963B25-7768-4886-AA1D-819C4812F5BC}" type="presParOf" srcId="{C344AF7C-9FD8-4E77-ACB4-59A4FA21C9D6}" destId="{E6AE8574-A45C-43B0-8333-C331ED13E9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76990-DD75-4ACA-AC62-2F78A0D2AF48}">
      <dsp:nvSpPr>
        <dsp:cNvPr id="0" name=""/>
        <dsp:cNvSpPr/>
      </dsp:nvSpPr>
      <dsp:spPr>
        <a:xfrm>
          <a:off x="1325" y="2045643"/>
          <a:ext cx="1503639" cy="954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18370-FD6E-4E21-83EF-E89EB72D137E}">
      <dsp:nvSpPr>
        <dsp:cNvPr id="0" name=""/>
        <dsp:cNvSpPr/>
      </dsp:nvSpPr>
      <dsp:spPr>
        <a:xfrm>
          <a:off x="168396" y="2204361"/>
          <a:ext cx="1503639" cy="954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Generazione</a:t>
          </a:r>
          <a:r>
            <a:rPr lang="en-US" sz="1200" kern="1200" dirty="0"/>
            <a:t> del dataset</a:t>
          </a:r>
        </a:p>
      </dsp:txBody>
      <dsp:txXfrm>
        <a:off x="196361" y="2232326"/>
        <a:ext cx="1447709" cy="898880"/>
      </dsp:txXfrm>
    </dsp:sp>
    <dsp:sp modelId="{5E243080-45EF-499A-8C6E-65C201F47643}">
      <dsp:nvSpPr>
        <dsp:cNvPr id="0" name=""/>
        <dsp:cNvSpPr/>
      </dsp:nvSpPr>
      <dsp:spPr>
        <a:xfrm>
          <a:off x="1839107" y="2045643"/>
          <a:ext cx="1503639" cy="954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EC9C8-983F-46C7-9675-F189B7A0BDE2}">
      <dsp:nvSpPr>
        <dsp:cNvPr id="0" name=""/>
        <dsp:cNvSpPr/>
      </dsp:nvSpPr>
      <dsp:spPr>
        <a:xfrm>
          <a:off x="2006178" y="2204361"/>
          <a:ext cx="1503639" cy="954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Pre-Processing</a:t>
          </a:r>
        </a:p>
      </dsp:txBody>
      <dsp:txXfrm>
        <a:off x="2034143" y="2232326"/>
        <a:ext cx="1447709" cy="898880"/>
      </dsp:txXfrm>
    </dsp:sp>
    <dsp:sp modelId="{EC222093-8CDF-4756-8677-CE6199FF90E5}">
      <dsp:nvSpPr>
        <dsp:cNvPr id="0" name=""/>
        <dsp:cNvSpPr/>
      </dsp:nvSpPr>
      <dsp:spPr>
        <a:xfrm>
          <a:off x="3676888" y="2045643"/>
          <a:ext cx="1503639" cy="954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FD80D-0107-4D7B-A5DB-DFE9264E61AC}">
      <dsp:nvSpPr>
        <dsp:cNvPr id="0" name=""/>
        <dsp:cNvSpPr/>
      </dsp:nvSpPr>
      <dsp:spPr>
        <a:xfrm>
          <a:off x="3843959" y="2204361"/>
          <a:ext cx="1503639" cy="954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Addestramento</a:t>
          </a:r>
          <a:r>
            <a:rPr lang="en-US" sz="1200" kern="1200" dirty="0"/>
            <a:t> </a:t>
          </a:r>
          <a:r>
            <a:rPr lang="en-US" sz="1200" kern="1200" dirty="0" err="1"/>
            <a:t>Modello</a:t>
          </a:r>
          <a:endParaRPr lang="en-US" sz="1200" kern="1200" dirty="0"/>
        </a:p>
      </dsp:txBody>
      <dsp:txXfrm>
        <a:off x="3871924" y="2232326"/>
        <a:ext cx="1447709" cy="898880"/>
      </dsp:txXfrm>
    </dsp:sp>
    <dsp:sp modelId="{21E13917-529D-4C30-87AD-EE8B3B3D823F}">
      <dsp:nvSpPr>
        <dsp:cNvPr id="0" name=""/>
        <dsp:cNvSpPr/>
      </dsp:nvSpPr>
      <dsp:spPr>
        <a:xfrm>
          <a:off x="5514670" y="2045643"/>
          <a:ext cx="1503639" cy="954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ED19C-DDFD-409F-9424-70123CE68F67}">
      <dsp:nvSpPr>
        <dsp:cNvPr id="0" name=""/>
        <dsp:cNvSpPr/>
      </dsp:nvSpPr>
      <dsp:spPr>
        <a:xfrm>
          <a:off x="5681741" y="2204361"/>
          <a:ext cx="1503639" cy="954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Calcolo delle metriche</a:t>
          </a:r>
        </a:p>
      </dsp:txBody>
      <dsp:txXfrm>
        <a:off x="5709706" y="2232326"/>
        <a:ext cx="1447709" cy="898880"/>
      </dsp:txXfrm>
    </dsp:sp>
    <dsp:sp modelId="{A216795E-EC0F-4320-8566-17A99C67BE5A}">
      <dsp:nvSpPr>
        <dsp:cNvPr id="0" name=""/>
        <dsp:cNvSpPr/>
      </dsp:nvSpPr>
      <dsp:spPr>
        <a:xfrm>
          <a:off x="7352451" y="2045643"/>
          <a:ext cx="1503639" cy="954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2EEB8-CCAB-4076-958B-3E7093D13545}">
      <dsp:nvSpPr>
        <dsp:cNvPr id="0" name=""/>
        <dsp:cNvSpPr/>
      </dsp:nvSpPr>
      <dsp:spPr>
        <a:xfrm>
          <a:off x="7519522" y="2204361"/>
          <a:ext cx="1503639" cy="954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Visualizzazione Metriche</a:t>
          </a:r>
        </a:p>
      </dsp:txBody>
      <dsp:txXfrm>
        <a:off x="7547487" y="2232326"/>
        <a:ext cx="1447709" cy="898880"/>
      </dsp:txXfrm>
    </dsp:sp>
    <dsp:sp modelId="{C3CC2807-034E-46C7-AB60-B66D3649CEA3}">
      <dsp:nvSpPr>
        <dsp:cNvPr id="0" name=""/>
        <dsp:cNvSpPr/>
      </dsp:nvSpPr>
      <dsp:spPr>
        <a:xfrm>
          <a:off x="9190232" y="2045643"/>
          <a:ext cx="1503639" cy="954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F0937-A308-4D0B-8E9E-663FE8B924DD}">
      <dsp:nvSpPr>
        <dsp:cNvPr id="0" name=""/>
        <dsp:cNvSpPr/>
      </dsp:nvSpPr>
      <dsp:spPr>
        <a:xfrm>
          <a:off x="9357303" y="2204361"/>
          <a:ext cx="1503639" cy="954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Analisi</a:t>
          </a:r>
          <a:r>
            <a:rPr lang="en-US" sz="1200" kern="1200" dirty="0"/>
            <a:t> </a:t>
          </a:r>
          <a:r>
            <a:rPr lang="en-US" sz="1200" kern="1200" dirty="0" err="1"/>
            <a:t>metriche</a:t>
          </a:r>
          <a:r>
            <a:rPr lang="en-US" sz="1200" kern="1200" dirty="0"/>
            <a:t> e </a:t>
          </a:r>
          <a:r>
            <a:rPr lang="en-US" sz="1200" kern="1200" dirty="0" err="1"/>
            <a:t>compilazione</a:t>
          </a:r>
          <a:r>
            <a:rPr lang="en-US" sz="1200" kern="1200" dirty="0"/>
            <a:t> form con </a:t>
          </a:r>
          <a:r>
            <a:rPr lang="en-US" sz="1200" kern="1200" dirty="0" err="1"/>
            <a:t>collegamento</a:t>
          </a:r>
          <a:r>
            <a:rPr lang="en-US" sz="1200" kern="1200" dirty="0"/>
            <a:t> ai </a:t>
          </a:r>
          <a:r>
            <a:rPr lang="en-US" sz="1200" kern="1200" dirty="0" err="1"/>
            <a:t>diritti</a:t>
          </a:r>
          <a:r>
            <a:rPr lang="en-US" sz="1200" kern="1200" dirty="0"/>
            <a:t> </a:t>
          </a:r>
          <a:r>
            <a:rPr lang="en-US" sz="1200" kern="1200" dirty="0" err="1"/>
            <a:t>fondamentali</a:t>
          </a:r>
          <a:endParaRPr lang="en-US" sz="1200" kern="1200" dirty="0"/>
        </a:p>
      </dsp:txBody>
      <dsp:txXfrm>
        <a:off x="9385268" y="2232326"/>
        <a:ext cx="1447709" cy="898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8A3A-DA9F-46E7-986F-9347FDDDB9F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D6539-F30C-490B-A03C-CE45B04FD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dirty="0">
                <a:effectLst/>
                <a:latin typeface="Segoe UI" panose="020B0502040204020203" pitchFamily="34" charset="0"/>
              </a:rPr>
              <a:t>Ci siamo concentrati su questi due perchè sono rilevanti in ambito </a:t>
            </a:r>
            <a:r>
              <a:rPr lang="it-IT" sz="1800" dirty="0" err="1">
                <a:effectLst/>
                <a:latin typeface="Segoe UI" panose="020B0502040204020203" pitchFamily="34" charset="0"/>
              </a:rPr>
              <a:t>hiring</a:t>
            </a:r>
            <a:r>
              <a:rPr lang="it-IT" sz="1800" dirty="0">
                <a:effectLst/>
                <a:latin typeface="Segoe UI" panose="020B0502040204020203" pitchFamily="34" charset="0"/>
              </a:rPr>
              <a:t>, e in letteratura hanno misure ben definite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D6539-F30C-490B-A03C-CE45B04FDA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3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dirty="0">
                <a:effectLst/>
                <a:latin typeface="Segoe UI" panose="020B0502040204020203" pitchFamily="34" charset="0"/>
              </a:rPr>
              <a:t>Noi diamo misure oggettive, ma ci rendiamo conto della limitata comprensione che le </a:t>
            </a:r>
            <a:r>
              <a:rPr lang="it-IT" sz="1800" dirty="0" err="1">
                <a:effectLst/>
                <a:latin typeface="Segoe UI" panose="020B0502040204020203" pitchFamily="34" charset="0"/>
              </a:rPr>
              <a:t>miusre</a:t>
            </a:r>
            <a:r>
              <a:rPr lang="it-IT" sz="1800" dirty="0">
                <a:effectLst/>
                <a:latin typeface="Segoe UI" panose="020B0502040204020203" pitchFamily="34" charset="0"/>
              </a:rPr>
              <a:t> hanno di un contesto </a:t>
            </a:r>
            <a:r>
              <a:rPr lang="it-IT" sz="1800" dirty="0" err="1">
                <a:effectLst/>
                <a:latin typeface="Segoe UI" panose="020B0502040204020203" pitchFamily="34" charset="0"/>
              </a:rPr>
              <a:t>compleso</a:t>
            </a:r>
            <a:r>
              <a:rPr lang="it-IT" sz="1800" dirty="0">
                <a:effectLst/>
                <a:latin typeface="Segoe UI" panose="020B0502040204020203" pitchFamily="34" charset="0"/>
              </a:rPr>
              <a:t>, dando possibilità all’umano di dare un peso</a:t>
            </a:r>
            <a:endParaRPr lang="it-IT" sz="1800" dirty="0"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Human in the loop</a:t>
            </a:r>
          </a:p>
          <a:p>
            <a:r>
              <a:rPr lang="it-IT" sz="1800" dirty="0">
                <a:effectLst/>
                <a:latin typeface="Segoe UI" panose="020B0502040204020203" pitchFamily="34" charset="0"/>
              </a:rPr>
              <a:t>In caso di dubbi, possiamo usa l’esempio </a:t>
            </a:r>
            <a:r>
              <a:rPr lang="it-IT" sz="1800" dirty="0" err="1">
                <a:effectLst/>
                <a:latin typeface="Segoe UI" panose="020B0502040204020203" pitchFamily="34" charset="0"/>
              </a:rPr>
              <a:t>disability</a:t>
            </a:r>
            <a:r>
              <a:rPr lang="it-IT" sz="1800" dirty="0">
                <a:effectLst/>
                <a:latin typeface="Segoe UI" panose="020B0502040204020203" pitchFamily="34" charset="0"/>
              </a:rPr>
              <a:t> del paper ( ad esempio in ambiti di sforzo fisico, potremmo diminuire gli impatti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D6539-F30C-490B-A03C-CE45B04FDA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33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dirty="0">
                <a:effectLst/>
                <a:latin typeface="Segoe UI" panose="020B0502040204020203" pitchFamily="34" charset="0"/>
              </a:rPr>
              <a:t>Quando un valutatore mette questi valori, sta facendo degli aggiustamenti in base a dei ragionamenti, ma sta rendendo oggettiva la sua opinione.</a:t>
            </a:r>
            <a:br>
              <a:rPr lang="it-IT" sz="1800" dirty="0">
                <a:effectLst/>
                <a:latin typeface="Segoe UI" panose="020B0502040204020203" pitchFamily="34" charset="0"/>
              </a:rPr>
            </a:br>
            <a:br>
              <a:rPr lang="it-IT" sz="1800" dirty="0">
                <a:effectLst/>
                <a:latin typeface="Segoe UI" panose="020B0502040204020203" pitchFamily="34" charset="0"/>
              </a:rPr>
            </a:br>
            <a:r>
              <a:rPr lang="it-IT" sz="1800" dirty="0">
                <a:effectLst/>
                <a:latin typeface="Segoe UI" panose="020B0502040204020203" pitchFamily="34" charset="0"/>
              </a:rPr>
              <a:t>Quindi abbiamo misura oggettiva della metrica + opinione oggettiva del valutatore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D6539-F30C-490B-A03C-CE45B04FDA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6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D6539-F30C-490B-A03C-CE45B04FDA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D6539-F30C-490B-A03C-CE45B04FDA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24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D6539-F30C-490B-A03C-CE45B04FDA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EE94-629F-F433-132E-9FA72F7ED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5D2C2-4F89-ACCD-4777-1DFB94DE5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DF2CD-D26A-D96F-64AF-5F354CA5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8DE1C-92DA-1763-A738-50F0D200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2F23D-2DA4-E427-FE8F-E843C4BB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3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11B1-ACAF-DACE-1B38-1CCD937C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CB643-5CE7-027E-46A5-65F6AED2B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463D-956A-C5D7-482C-3C77E7E8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2FDBA-3EB5-4B79-4603-D2D20428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A02-60E5-094B-9146-9875C0C0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8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96B0-951B-7AB5-40A5-C0F2736C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AF9E0-F8E6-A387-8E9C-A36D2651E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7CCA-A7D8-A1A5-5A37-1480C849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A1455-8FD4-507C-83D1-F861BBBB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4AFED-F7E4-CAAB-76A2-DE1AAA6F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3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1ABC-991E-C6E6-3B74-609947E0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7EA29-1008-29F1-A18D-22043C887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28FBD-B60A-8BCF-BBE6-DF30A4F78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5882-84C4-BB08-ACCF-EB1ECB3F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D28C6-A9C2-2EB3-B9A3-E1B6595B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BC118-50C4-9D4E-903C-C6540DAA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6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6906-D4DE-D4D4-E29F-3C16A660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83EC7-9536-433D-2822-9A8FAB4D0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ED609-971B-5B25-8C70-E7428F29A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8D609-DFB1-5421-703C-DF5B7EBCC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5F7FA-C91B-FE51-EB03-7DC43A918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23E82-6E91-2BD1-25C7-34988DD8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AA5FE-7CBD-DDF8-9A1F-0CC48E9E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506F5-2358-2B36-F2C2-22CF267A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7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D3E9-2930-5ADC-546A-B77B896F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DB930-7027-2F8D-4F8A-AE5BC1BA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226CB-DA74-C36A-DCD3-8E32CE0C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C5E31-C694-65B1-B5FA-075BDAC0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1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B8C6F-43E9-75F6-77B6-B50DC32B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01070-B760-60D3-D88B-9CE24C1E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D1759-FD85-109A-E1A9-C677C50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8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0DCF-B3AA-A16D-7733-E73EBCE0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41B5-C37A-90D7-982D-46B33D1AD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DC40F-70BF-4E1D-E5D6-837DF4CD9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B4173-F9DF-DED0-34A6-F75868433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EC9B1-3579-A96E-0401-5D4F5AE6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EA9F9-03A7-8342-A4AF-2F71E50A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7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2FD9-28D8-7D44-76D7-F59FAC0D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4EE6F-F86A-12CC-7FA3-4FA7058BE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A0C89-29CC-C5A7-205C-07FC9848D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E2281-9445-31CD-B97C-51D10E3E5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A8DEF-197E-7510-A378-28EC53D9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E60C1-7497-759C-9DC6-70D3B954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4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4E1C-B042-816E-C876-19A6FAC0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55924-11D7-D836-CEC0-B00209B49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6C155-F77A-10D3-7B77-52E8EA89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66CC-449C-1AF3-767E-D32E2DF8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BE77D-6BEC-F914-74DD-7A2D3BC1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34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C1E20-8401-C29C-D5F7-13A567FB2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7E3D1-F56C-8D56-303D-40E1D7B00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87E5-DA4A-2A06-121B-40F422B0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A0B09-3C77-3E60-A198-5F612240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A0DC4-DA34-5834-2FD0-8CAB4B62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2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6430D-94DF-FA99-29C0-01B55984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D3C5D-AB93-A40A-9FA9-0A1374C2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6E52D-33C5-AF05-D018-726FCE7C8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9D786-04C4-44A9-9BB9-C54E8105478F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62D97-D1B3-A5C6-9F93-C811C3A54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7F6E4-EA06-611B-3AF2-A310321A9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9AC86-3610-42EB-9F9E-461C399A2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5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65AB6B1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F_FDC2E3BA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rry-cheesecake-d19117.netlify.app/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adiant-cannoli-1f9e42.netlify.app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ourmaline-smakager-dc566f.netlify.app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5421509E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3D13B23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F7746CB5.xml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49B6980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123FE7-2CFB-33E0-AB07-3105936313B9}"/>
              </a:ext>
            </a:extLst>
          </p:cNvPr>
          <p:cNvSpPr/>
          <p:nvPr/>
        </p:nvSpPr>
        <p:spPr>
          <a:xfrm>
            <a:off x="169682" y="169682"/>
            <a:ext cx="11877773" cy="653277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7AA13-DB1C-A668-F6A5-3FBB932E1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515" y="1461729"/>
            <a:ext cx="11594969" cy="2387600"/>
          </a:xfrm>
        </p:spPr>
        <p:txBody>
          <a:bodyPr>
            <a:noAutofit/>
          </a:bodyPr>
          <a:lstStyle/>
          <a:p>
            <a:pPr algn="l"/>
            <a:r>
              <a:rPr lang="it-IT" sz="36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FRIA-</a:t>
            </a:r>
            <a:r>
              <a:rPr lang="it-IT" sz="3600" b="1" i="0" u="none" strike="noStrike" baseline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Based</a:t>
            </a:r>
            <a:r>
              <a:rPr lang="it-IT" sz="36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Framework: </a:t>
            </a:r>
            <a:br>
              <a:rPr lang="it-IT" sz="36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br>
              <a:rPr lang="it-IT" sz="36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it-IT" sz="36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Valutazione dell’Impatto sui Diritti Fondamentali nei Sistemi di Intelligenza Artificiale 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7488B2D-06BA-3E9D-69F8-A3BACA71B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034" y="5673938"/>
            <a:ext cx="3310284" cy="87240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Candidato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Marco Di Cristo</a:t>
            </a:r>
          </a:p>
          <a:p>
            <a:pPr algn="l"/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Relatore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Roberto Trasarti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Roberta Savella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77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FE1C-F92E-F68D-8140-28E93AD6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BA0E86-57B1-0017-57E9-8F8CA8B3AE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2C604-8DD5-D4A8-7107-82B1D0CE2BCD}"/>
              </a:ext>
            </a:extLst>
          </p:cNvPr>
          <p:cNvSpPr txBox="1"/>
          <p:nvPr/>
        </p:nvSpPr>
        <p:spPr>
          <a:xfrm>
            <a:off x="313442" y="1201919"/>
            <a:ext cx="471340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Obiettivi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Progetto 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motivazioni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diritti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esistenti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Fairness e Privacy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Risultati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Sviluppi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4A695E-6530-9D81-318F-95E6FE2E072A}"/>
              </a:ext>
            </a:extLst>
          </p:cNvPr>
          <p:cNvSpPr txBox="1"/>
          <p:nvPr/>
        </p:nvSpPr>
        <p:spPr>
          <a:xfrm>
            <a:off x="205684" y="67881"/>
            <a:ext cx="261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9161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FBDDC-05A2-AAF0-069F-F3B99A83B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721EB4A-D918-FD55-5C45-93B228F3AAC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0FF98-5219-C42D-3028-1CF83F9577B5}"/>
              </a:ext>
            </a:extLst>
          </p:cNvPr>
          <p:cNvSpPr txBox="1"/>
          <p:nvPr/>
        </p:nvSpPr>
        <p:spPr>
          <a:xfrm>
            <a:off x="105105" y="844999"/>
            <a:ext cx="11834648" cy="541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000" b="1" i="0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Contesto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Il lavoro si inserisce all’interno di un progetto di ricerca congiunto tra i ricercatori di 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SoBigData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e di 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ReCEPL</a:t>
            </a:r>
            <a:endParaRPr lang="it-IT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SoBigData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è un’infrastruttura di ricerca pan-europea specializzata nell’uso dei Big Data per finalità sociali, in questo progetto ha curato la parte tecnica ecosistema.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ReCEPL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, il Centro di ricerca di diritto privato europeo.</a:t>
            </a:r>
          </a:p>
          <a:p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it-IT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Obiettivo </a:t>
            </a:r>
            <a:r>
              <a:rPr lang="it-IT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del lavoro</a:t>
            </a:r>
            <a:r>
              <a:rPr lang="it-IT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it-IT" sz="20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viluppare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un tool capace di supportare l’analisi dell’impatto di un sistema di Intelligenza Artificiale (AI) su alcuni diritti fondamentali selezionati attraverso misure oggettive</a:t>
            </a:r>
            <a:r>
              <a:rPr lang="it-IT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basandosi sull’</a:t>
            </a:r>
            <a:r>
              <a:rPr lang="it-IT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assessment</a:t>
            </a:r>
            <a:r>
              <a:rPr lang="it-IT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FRIA</a:t>
            </a:r>
            <a:endParaRPr lang="it-IT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upportare l’analisi di impatto di sistemi di Intelligenza Artificiale su alcuni diritti fondamentali selezionati</a:t>
            </a: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755425-C095-8DD9-E3EE-94E5A9C5EF51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OBIETTIVI DEL PROGETTO E MOTIVAZIONI 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534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A7E9-3AC8-098B-8B02-ECDE0DDD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91EB5A-828B-5E61-7200-0D14B356A3E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93D834-9A34-664D-9790-A410F7B2AE74}"/>
              </a:ext>
            </a:extLst>
          </p:cNvPr>
          <p:cNvSpPr txBox="1"/>
          <p:nvPr/>
        </p:nvSpPr>
        <p:spPr>
          <a:xfrm>
            <a:off x="1" y="658982"/>
            <a:ext cx="12191999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Ambito di applicazione </a:t>
            </a:r>
            <a:endParaRPr lang="it-IT" sz="20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È stato sviluppato un prototipo di FRIA (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Fundamental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Rights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Impact 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Assessment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applicato ai sistemi di </a:t>
            </a:r>
            <a:r>
              <a:rPr lang="it-IT" sz="2000" b="0" i="0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selezione del personale 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basati su intelligenza artificiale, con particolare attenzione ai diritti alla non discriminazione e alla privacy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t-IT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Motivazioni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uesto caso d’uso è esplicitamente menzionato nel n. 4 dell’Allegato III dell’AI Act come ambito di sistemi ad alto rischio, ai quali si applica l’obbligo di eseguire una FRIA ai sensi dell’art. 27 dell’AI Act.</a:t>
            </a:r>
          </a:p>
          <a:p>
            <a:endParaRPr lang="it-IT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Il progetto si appoggia al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lavoro svolto nel progetto FINDHR, permettendoci di utilizzare alcuni dei loro tool, fornendo così una base solida per il nostro esperimento </a:t>
            </a: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F8F3B-38E3-4E4E-5710-3BD2B44584F3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OBIETTIVI DEL PROGETTO E MOTIVAZIONI 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132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1E10-C47C-4202-BDB0-D6929BD5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DF4C377-5E19-3CF6-7C87-74D8F865174A}"/>
              </a:ext>
            </a:extLst>
          </p:cNvPr>
          <p:cNvSpPr/>
          <p:nvPr/>
        </p:nvSpPr>
        <p:spPr>
          <a:xfrm>
            <a:off x="0" y="-67881"/>
            <a:ext cx="12191999" cy="6858000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62F8BD-8B43-A000-2F27-D1B38F928DCF}"/>
              </a:ext>
            </a:extLst>
          </p:cNvPr>
          <p:cNvSpPr txBox="1"/>
          <p:nvPr/>
        </p:nvSpPr>
        <p:spPr>
          <a:xfrm>
            <a:off x="1" y="825178"/>
            <a:ext cx="12191999" cy="566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Alcuni dei principali rischi connessi dell’AI riguardano il pregiudizio algoritmico (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it-IT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ovvero l’ingiusto trattamento di determinati gruppi sociali a causa di dati di addestramento distorti o scelte progettuali errate, e la violazione della privacy, </a:t>
            </a:r>
          </a:p>
          <a:p>
            <a:pPr>
              <a:lnSpc>
                <a:spcPct val="150000"/>
              </a:lnSpc>
            </a:pPr>
            <a:endParaRPr lang="it-IT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Amazon e il reclutamento di genere </a:t>
            </a:r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Il sistema di reclutamento AI scartava automaticamente i curriculum delle donne per posizioni tecniche </a:t>
            </a: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pPr algn="l"/>
            <a:r>
              <a:rPr lang="it-IT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Riconoscimento facciale e i pregiudizi razziali </a:t>
            </a:r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it-IT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tudi</a:t>
            </a:r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del MIT Media Lab hanno dimostrato che i software di riconoscimento facciale commettono molti più errori nell’identificare persone con la pelle scura, soprattutto donne afroamericane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pPr algn="l"/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Discriminazione nei prestiti e nei punteggi di credito </a:t>
            </a:r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it-IT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el</a:t>
            </a:r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2019, Apple Card è stata accusata di assegnare punteggi di credito più bassi alle donne rispetto agli uomini con profili finanziari simili</a:t>
            </a:r>
          </a:p>
          <a:p>
            <a:endParaRPr lang="it-IT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Violazioni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della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privacy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g</a:t>
            </a:r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 algoritmi possono raccogliere e analizzare enormi quantità di informazioni senza che gli utenti ne siano pienamente consapevoli (Caso Cambridge </a:t>
            </a:r>
            <a:r>
              <a:rPr lang="it-IT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Analytica</a:t>
            </a:r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credito sociale in Cina…)</a:t>
            </a:r>
            <a:endParaRPr lang="it-IT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1187B9-D250-E306-A96D-6661E1ECF50C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 I RISCHI PER I DIRITTI UMANI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11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2575-1D3D-BBDF-15DF-1E879F43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248ED63-4874-4979-83B4-B7170E0F8A70}"/>
              </a:ext>
            </a:extLst>
          </p:cNvPr>
          <p:cNvSpPr/>
          <p:nvPr/>
        </p:nvSpPr>
        <p:spPr>
          <a:xfrm>
            <a:off x="0" y="22471"/>
            <a:ext cx="12191999" cy="6858000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8D050D-B5CD-8888-B32A-CA23719FC65B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ESISTENTI 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BA55F8-9B26-F673-8C4F-57E138BB3C14}"/>
              </a:ext>
            </a:extLst>
          </p:cNvPr>
          <p:cNvSpPr txBox="1">
            <a:spLocks/>
          </p:cNvSpPr>
          <p:nvPr/>
        </p:nvSpPr>
        <p:spPr>
          <a:xfrm>
            <a:off x="94593" y="2488149"/>
            <a:ext cx="5129048" cy="2346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Rights Impact Assessment (HRIA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rocesso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volto a identificare, capire, valutare e affrontare i rischi di un progetto o di un’attività sui diritti umani dei soggetti coinvolti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B5D4F-C01A-BF2B-CADD-1CA25B189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987" y="924910"/>
            <a:ext cx="6867237" cy="55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6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F5389-F663-D207-7131-9D64D02C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1A73EB0-D149-894E-413B-B05D4528895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6F28E-68D6-D83C-41CE-890B8666EA58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ESISTENTI 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EBF5F0-78DE-6BA1-B834-E7721D708CF4}"/>
              </a:ext>
            </a:extLst>
          </p:cNvPr>
          <p:cNvSpPr txBox="1">
            <a:spLocks/>
          </p:cNvSpPr>
          <p:nvPr/>
        </p:nvSpPr>
        <p:spPr>
          <a:xfrm>
            <a:off x="0" y="2015183"/>
            <a:ext cx="5665076" cy="2735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Impact Assessment (DPIA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rocesso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le organizzazioni devono seguire quando intendono intraprendere nuove attività di trattamento dei dati personali, richiesta dal GDPR.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38CB1-8DC2-92CB-D9ED-9D87AF03B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20" y="922646"/>
            <a:ext cx="5391441" cy="51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682ED-509D-971B-0CB7-FE6FF034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DAB509-3748-6511-95F4-EA8E6DB8659A}"/>
              </a:ext>
            </a:extLst>
          </p:cNvPr>
          <p:cNvSpPr/>
          <p:nvPr/>
        </p:nvSpPr>
        <p:spPr>
          <a:xfrm>
            <a:off x="0" y="-67882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6A079-2859-B3E8-1B96-66774690EA8E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ESISTENTI 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CC57303-9B92-FA94-FBAF-A347940A8911}"/>
              </a:ext>
            </a:extLst>
          </p:cNvPr>
          <p:cNvSpPr txBox="1">
            <a:spLocks/>
          </p:cNvSpPr>
          <p:nvPr/>
        </p:nvSpPr>
        <p:spPr>
          <a:xfrm>
            <a:off x="102842" y="1994163"/>
            <a:ext cx="6030252" cy="4130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List for Trustworthy AI (ALTAI)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strumento di autovalutazione sviluppato dall’High-Level Expert Group on AI (AI HLEG) per la Commissione Europea, con l’obiettivo di aiutare le organizzazioni a verificare la conformità dei loro sistemi di intelligenza artificiale (AI) ai sette requisiti per un’AI affidabile, come definiti nelle Ethics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Trustworthy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del 2019.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79EC4-2420-5803-2320-661B66A15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106" y="1212694"/>
            <a:ext cx="3648920" cy="459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5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3F60C-18FB-05E7-9AF1-F7146E06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5A96CE4-F54B-9BE3-ABCA-9B318BB8FED5}"/>
              </a:ext>
            </a:extLst>
          </p:cNvPr>
          <p:cNvSpPr/>
          <p:nvPr/>
        </p:nvSpPr>
        <p:spPr>
          <a:xfrm>
            <a:off x="0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77955-CB1E-2544-DAAB-727307B5D58F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ESISTENTI 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3" name="Content Placeholder 4" descr="A blue and white website&#10;&#10;AI-generated content may be incorrect.">
            <a:extLst>
              <a:ext uri="{FF2B5EF4-FFF2-40B4-BE49-F238E27FC236}">
                <a16:creationId xmlns:a16="http://schemas.microsoft.com/office/drawing/2014/main" id="{F22B3F30-F8CF-1B2F-8EB8-B7FEB08B8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177" y="3820886"/>
            <a:ext cx="5456140" cy="285083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793942-32D5-B158-E546-349140A529EE}"/>
              </a:ext>
            </a:extLst>
          </p:cNvPr>
          <p:cNvSpPr txBox="1">
            <a:spLocks/>
          </p:cNvSpPr>
          <p:nvPr/>
        </p:nvSpPr>
        <p:spPr>
          <a:xfrm>
            <a:off x="205684" y="757152"/>
            <a:ext cx="6660114" cy="523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Fundamental Rights Impact Assessment (FRIA), Art.27 AI Act</a:t>
            </a:r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33376-4385-0804-2774-372D4BF5DD7B}"/>
              </a:ext>
            </a:extLst>
          </p:cNvPr>
          <p:cNvSpPr txBox="1"/>
          <p:nvPr/>
        </p:nvSpPr>
        <p:spPr>
          <a:xfrm>
            <a:off x="205683" y="1316334"/>
            <a:ext cx="110384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 </a:t>
            </a:r>
            <a:r>
              <a:rPr lang="it-IT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l’</a:t>
            </a:r>
            <a:r>
              <a:rPr lang="it-IT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Articolo 27 dell’AI Act</a:t>
            </a:r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il legislatore si pone l’obiettivo di tutelare i diritti fondamentali nel caso di utilizzo dell’AI attraverso il </a:t>
            </a:r>
            <a:r>
              <a:rPr lang="it-IT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Fundamental</a:t>
            </a:r>
            <a:r>
              <a:rPr lang="it-IT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t-IT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Rights</a:t>
            </a:r>
            <a:r>
              <a:rPr lang="it-IT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Impact </a:t>
            </a:r>
            <a:r>
              <a:rPr lang="it-IT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Assessment</a:t>
            </a:r>
            <a:r>
              <a:rPr lang="it-IT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(FRIA)</a:t>
            </a:r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Nell’articolo 27 troviamo queste indicazioni sul processo dell’analisi dell’impatto sui diritti fondamentali:</a:t>
            </a:r>
          </a:p>
          <a:p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Descrizione del contesto d’uso </a:t>
            </a:r>
            <a:r>
              <a:rPr lang="it-IT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delle modalità di implementazione del sistema;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Identificazione dei soggetti coinvolti </a:t>
            </a:r>
            <a:r>
              <a:rPr lang="it-IT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dei potenziali impatti;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Valutazione dei rischi </a:t>
            </a:r>
            <a:r>
              <a:rPr lang="it-IT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delle strategie di mitigazione;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Supervisione umana </a:t>
            </a:r>
            <a:r>
              <a:rPr lang="it-IT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misure di governance;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Notifica dei risultati </a:t>
            </a:r>
            <a:r>
              <a:rPr lang="it-IT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alle autorità di sorveglianza.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22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9794-2902-D239-A134-FACD4709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2469AF-D468-DA33-008F-C25353E5C92C}"/>
              </a:ext>
            </a:extLst>
          </p:cNvPr>
          <p:cNvSpPr/>
          <p:nvPr/>
        </p:nvSpPr>
        <p:spPr>
          <a:xfrm>
            <a:off x="0" y="-58575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8C8B0E-F0CF-9FB0-95F4-7EA53A500E9E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step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B28B2BD-D875-9470-374C-7FF9F997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4D0995-5155-5A14-2AB6-7D6B7E5DC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TextBox 1">
            <a:extLst>
              <a:ext uri="{FF2B5EF4-FFF2-40B4-BE49-F238E27FC236}">
                <a16:creationId xmlns:a16="http://schemas.microsoft.com/office/drawing/2014/main" id="{1B8E3888-810B-9198-B755-5BBE0FCEF4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94049"/>
              </p:ext>
            </p:extLst>
          </p:nvPr>
        </p:nvGraphicFramePr>
        <p:xfrm>
          <a:off x="582804" y="733529"/>
          <a:ext cx="10862269" cy="5204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333F06-FD04-9247-09E9-481E74CC4F3A}"/>
              </a:ext>
            </a:extLst>
          </p:cNvPr>
          <p:cNvCxnSpPr/>
          <p:nvPr/>
        </p:nvCxnSpPr>
        <p:spPr>
          <a:xfrm>
            <a:off x="582804" y="2170444"/>
            <a:ext cx="4421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9265FB-75AB-1122-6B5D-F2541BB8C1D3}"/>
              </a:ext>
            </a:extLst>
          </p:cNvPr>
          <p:cNvSpPr txBox="1"/>
          <p:nvPr/>
        </p:nvSpPr>
        <p:spPr>
          <a:xfrm>
            <a:off x="1698171" y="1737891"/>
            <a:ext cx="3516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SIMULAZIONE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23B05F-3979-8C3C-76F3-BEBF4F8FA1AF}"/>
              </a:ext>
            </a:extLst>
          </p:cNvPr>
          <p:cNvCxnSpPr/>
          <p:nvPr/>
        </p:nvCxnSpPr>
        <p:spPr>
          <a:xfrm>
            <a:off x="5305530" y="4471516"/>
            <a:ext cx="6139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47D903-882E-6911-7E74-521C06D3EEDD}"/>
              </a:ext>
            </a:extLst>
          </p:cNvPr>
          <p:cNvSpPr txBox="1"/>
          <p:nvPr/>
        </p:nvSpPr>
        <p:spPr>
          <a:xfrm>
            <a:off x="7378840" y="4525993"/>
            <a:ext cx="485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VALUTAZIONE</a:t>
            </a:r>
          </a:p>
        </p:txBody>
      </p:sp>
    </p:spTree>
    <p:extLst>
      <p:ext uri="{BB962C8B-B14F-4D97-AF65-F5344CB8AC3E}">
        <p14:creationId xmlns:p14="http://schemas.microsoft.com/office/powerpoint/2010/main" val="387623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DCD1-BD81-4903-6BD6-7B7576DA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95C1C34-5B3B-09BE-23CD-EEA79331235B}"/>
              </a:ext>
            </a:extLst>
          </p:cNvPr>
          <p:cNvSpPr/>
          <p:nvPr/>
        </p:nvSpPr>
        <p:spPr>
          <a:xfrm>
            <a:off x="0" y="-58575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B664AC-B422-785E-230F-1B62114DE7C1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dataset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71BEB4F-3436-041D-16CF-412EB4888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AACA64-F023-0C1A-3D13-1EF4A247D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99CB4-1EA9-EEEE-048D-CAC096141AF5}"/>
              </a:ext>
            </a:extLst>
          </p:cNvPr>
          <p:cNvSpPr txBox="1"/>
          <p:nvPr/>
        </p:nvSpPr>
        <p:spPr>
          <a:xfrm>
            <a:off x="252871" y="717557"/>
            <a:ext cx="1103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generatore (FINDHR) è stato utilizzato per creare 2 dataset: uno che rappresenta le offerte di lavoro (JOBS) e l'altro che rappresenta i CV (CV).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D2C544-9608-39A1-4D7A-BA0531920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712589"/>
              </p:ext>
            </p:extLst>
          </p:nvPr>
        </p:nvGraphicFramePr>
        <p:xfrm>
          <a:off x="1408543" y="1512649"/>
          <a:ext cx="3453856" cy="3483452"/>
        </p:xfrm>
        <a:graphic>
          <a:graphicData uri="http://schemas.openxmlformats.org/drawingml/2006/table">
            <a:tbl>
              <a:tblPr/>
              <a:tblGrid>
                <a:gridCol w="424654">
                  <a:extLst>
                    <a:ext uri="{9D8B030D-6E8A-4147-A177-3AD203B41FA5}">
                      <a16:colId xmlns:a16="http://schemas.microsoft.com/office/drawing/2014/main" val="1070194480"/>
                    </a:ext>
                  </a:extLst>
                </a:gridCol>
                <a:gridCol w="3029202">
                  <a:extLst>
                    <a:ext uri="{9D8B030D-6E8A-4147-A177-3AD203B41FA5}">
                      <a16:colId xmlns:a16="http://schemas.microsoft.com/office/drawing/2014/main" val="880275332"/>
                    </a:ext>
                  </a:extLst>
                </a:gridCol>
              </a:tblGrid>
              <a:tr h="41724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 </a:t>
                      </a: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384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Job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3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661040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Occupation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005307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educations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894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age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908994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gender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286182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disability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6396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contract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139763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languages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71241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nationality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11646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city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849990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experiences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9998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competences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714418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knowledge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899403"/>
                  </a:ext>
                </a:extLst>
              </a:tr>
              <a:tr h="224953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Ethnicity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678243"/>
                  </a:ext>
                </a:extLst>
              </a:tr>
              <a:tr h="218558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Religion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696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83EE0C3-DFAF-E12F-1721-18CA8F3E4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193A14-2332-EC32-A2EF-7C33FAC3E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848886"/>
              </p:ext>
            </p:extLst>
          </p:nvPr>
        </p:nvGraphicFramePr>
        <p:xfrm>
          <a:off x="7172872" y="1512649"/>
          <a:ext cx="3453856" cy="3483454"/>
        </p:xfrm>
        <a:graphic>
          <a:graphicData uri="http://schemas.openxmlformats.org/drawingml/2006/table">
            <a:tbl>
              <a:tblPr/>
              <a:tblGrid>
                <a:gridCol w="424655">
                  <a:extLst>
                    <a:ext uri="{9D8B030D-6E8A-4147-A177-3AD203B41FA5}">
                      <a16:colId xmlns:a16="http://schemas.microsoft.com/office/drawing/2014/main" val="4290370947"/>
                    </a:ext>
                  </a:extLst>
                </a:gridCol>
                <a:gridCol w="3029201">
                  <a:extLst>
                    <a:ext uri="{9D8B030D-6E8A-4147-A177-3AD203B41FA5}">
                      <a16:colId xmlns:a16="http://schemas.microsoft.com/office/drawing/2014/main" val="13899404"/>
                    </a:ext>
                  </a:extLst>
                </a:gridCol>
              </a:tblGrid>
              <a:tr h="418014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 </a:t>
                      </a: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384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CV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38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652784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pt-BR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CV_Type ( consistente o no)</a:t>
                      </a:r>
                      <a:endParaRPr lang="pt-BR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25076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education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43866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age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034066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gender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477806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disability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833633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contract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830664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languages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28889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nationality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125132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city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498853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experiences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653600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competences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63155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knowledge</a:t>
                      </a:r>
                      <a:endParaRPr lang="en-US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913550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Ethnicity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783442"/>
                  </a:ext>
                </a:extLst>
              </a:tr>
              <a:tr h="218960"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800" b="0" i="0" u="none" strike="noStrike" dirty="0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Religion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2860" marB="22860">
                    <a:lnL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E5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32806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C4BD8B13-1508-1E1F-513F-14FBC9220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A017F-1940-E850-2FF2-8D7A6CE12937}"/>
              </a:ext>
            </a:extLst>
          </p:cNvPr>
          <p:cNvSpPr txBox="1"/>
          <p:nvPr/>
        </p:nvSpPr>
        <p:spPr>
          <a:xfrm>
            <a:off x="869229" y="5273705"/>
            <a:ext cx="4532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valori degli attributi del dataset delle offerte di lavoro sono generati a partire da distribuzioni impostate manualmente (permettendoci dunque di introdurre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C6803-124E-2AEC-AFAD-6625BD056874}"/>
              </a:ext>
            </a:extLst>
          </p:cNvPr>
          <p:cNvSpPr txBox="1"/>
          <p:nvPr/>
        </p:nvSpPr>
        <p:spPr>
          <a:xfrm>
            <a:off x="6790290" y="5273704"/>
            <a:ext cx="4262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valori del dataset dei CV, invece, sono generati a partire dalle offerte di lavoro e da distribuzioni, a seconda dell’impostazione di alcuni parametri.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809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F2CC-FAF0-941E-A954-ED289475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5285C3-7DF7-CDB6-B786-61426215F229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4A272-B4E9-82BA-D5DB-A9EFDE7946D7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Pre Processing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18BAE7C-E266-55F0-51D7-ADA451A46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48E4C8-C659-55B4-83D8-CBCB33DA5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1DCFA3-F6C0-65B5-B9EC-51D013AD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9965A1C-D8AA-E380-6E07-9988C5A3C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A1C10417-B235-8A55-6412-DDF3D087838F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questa fase, vengono presi in input i dataset creati nello step precedente.</a:t>
            </a:r>
          </a:p>
          <a:p>
            <a:pPr algn="l"/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Dopo averli uniti in un unico dataset, vengono effettuate delle operazioni sui dati volte a :</a:t>
            </a:r>
          </a:p>
          <a:p>
            <a:pPr algn="l"/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Rendere il dataset ‘pronto’ ad essere dato in input ad un modello (fase di </a:t>
            </a:r>
            <a:r>
              <a:rPr lang="it-IT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questa fase abbiamo dovuto rendere numeriche le variabili categoriche presenti nel nostro dataset, in modo da poter addestrare successivamente un modello.</a:t>
            </a:r>
          </a:p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Rendere il dataset più affine alla realtà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Nell’ottica di avere un dataset più simile alla realtà, abbiamo deciso di eliminare le colonne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ethnicity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poiché questi dati solitamente non sono presenti nell’ambito di offerte di lavoro e CV. Ad ogni modo queste variabili sono state utilizzate per generare correlazioni sintetiche con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nationality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city per simulare possibili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indiretti.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Perturbare i dati in modo da rendere il modello non banale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Finita la parte di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econding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abbiamo notato che un modello avrebbe potuto facilmente classificare i CV utilizzando solo le colonne inerenti le competenze, data la impostazione di default del generatore. Per far si che il modello utilizzasse anche altre variabili, abbiamo perturbato i valori inerenti alle competenze</a:t>
            </a:r>
          </a:p>
        </p:txBody>
      </p:sp>
    </p:spTree>
    <p:extLst>
      <p:ext uri="{BB962C8B-B14F-4D97-AF65-F5344CB8AC3E}">
        <p14:creationId xmlns:p14="http://schemas.microsoft.com/office/powerpoint/2010/main" val="830936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B72E-7EAD-552F-0EF2-DAC5F37B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DBD6730-C3F3-AD57-4EDB-6B3884296EB9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432CB-4170-0E2B-9E32-2F2B080EF5F0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Addestramento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Modello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689863F-E588-D778-C170-44B07D564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C8F46-9173-6486-C3E8-58EB5747A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D44B70-2110-3756-8B19-8813348FB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5028B52-5F42-39F2-1BE7-B5CBCCA78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97D6640D-DFBA-6D1E-8A72-BC7B3F969D6A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338EB-D6A3-20EA-03FF-C1A7FD47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23" y="772575"/>
            <a:ext cx="5003816" cy="2710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617C64-FA64-74F4-B7C2-5B50C2B93918}"/>
              </a:ext>
            </a:extLst>
          </p:cNvPr>
          <p:cNvSpPr txBox="1"/>
          <p:nvPr/>
        </p:nvSpPr>
        <p:spPr>
          <a:xfrm>
            <a:off x="215260" y="1277104"/>
            <a:ext cx="58903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È stato deciso di utilizzare un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Decision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Tree, e di addestrarlo su un problema di classificazione, utilizzando come variabile target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isConsistent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(che rappresenta se un CV è consistente con l’offerta di lavoro oppure no).</a:t>
            </a:r>
          </a:p>
          <a:p>
            <a:pPr marL="0" lvl="0" indent="0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Abbiamo utilizzato il 20% del dataset come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test_set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, e l’80% come training set.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8294EA-3527-ABC0-252F-D3E60B4A8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323" y="3641833"/>
            <a:ext cx="5003816" cy="28276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A19EA6-744D-71AD-118B-BA03FAA5B5D1}"/>
              </a:ext>
            </a:extLst>
          </p:cNvPr>
          <p:cNvSpPr txBox="1"/>
          <p:nvPr/>
        </p:nvSpPr>
        <p:spPr>
          <a:xfrm>
            <a:off x="205684" y="3684152"/>
            <a:ext cx="56125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Seguendo il concetto di ‘privacy by-design’, inseriamo nella simulazione il principio di minimizzazione dei dati, a partire già dalla realizzazione del modello.</a:t>
            </a:r>
          </a:p>
          <a:p>
            <a:pPr marL="0" lvl="0" indent="0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In questa fase, il modello viene riaddestrato togliendo iterativamente la feature meno importante, fin quando la metrica inizialmente peggiore (nel nostro caso la Recall) non peggiori per più del 5%. </a:t>
            </a:r>
          </a:p>
          <a:p>
            <a:pPr marL="0" lvl="0" indent="0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In questo modo riusciamo a trovare un compromesso tra il trade-off di privacy/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perfomance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44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79D3-1A04-829A-F778-B4B217EC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13C4887-A379-7747-37AB-5C17D1215314}"/>
              </a:ext>
            </a:extLst>
          </p:cNvPr>
          <p:cNvSpPr/>
          <p:nvPr/>
        </p:nvSpPr>
        <p:spPr>
          <a:xfrm>
            <a:off x="1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F2B37-BC0F-AA70-43A0-E1D7941E375F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Fairness e di Privacy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6D2EDA5D-D393-757F-8292-65753402D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769" y="1004700"/>
            <a:ext cx="1613759" cy="167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7347BF-5E9E-DBF7-3C68-9182AE329D8D}"/>
              </a:ext>
            </a:extLst>
          </p:cNvPr>
          <p:cNvSpPr txBox="1"/>
          <p:nvPr/>
        </p:nvSpPr>
        <p:spPr>
          <a:xfrm>
            <a:off x="6607954" y="1301675"/>
            <a:ext cx="4238513" cy="379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750"/>
              </a:spcBef>
            </a:pPr>
            <a:r>
              <a:rPr lang="en-US" sz="1800" b="1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Diritto</a:t>
            </a:r>
            <a:r>
              <a:rPr lang="en-US" sz="18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alla</a:t>
            </a:r>
            <a:r>
              <a:rPr lang="en-US" sz="1800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Privacy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750"/>
              </a:spcBef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Minimization</a:t>
            </a: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Anonimity</a:t>
            </a:r>
            <a: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Size</a:t>
            </a: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sz="1800" b="0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anonimity</a:t>
            </a: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L-Diversity</a:t>
            </a: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T-Closeness</a:t>
            </a: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Mutual Information</a:t>
            </a: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Rajdhani"/>
              </a:rPr>
            </a:br>
            <a:br>
              <a:rPr lang="en-US" sz="1800" b="0" i="0" u="none" strike="noStrike" dirty="0">
                <a:solidFill>
                  <a:srgbClr val="212121"/>
                </a:solidFill>
                <a:effectLst/>
                <a:latin typeface="Rajdhani"/>
              </a:rPr>
            </a:b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2344ED91-945A-9180-1C76-7F046E583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044" y="1107077"/>
            <a:ext cx="2092636" cy="15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DA952D-96FD-265E-2CFE-916ECF44CC5E}"/>
              </a:ext>
            </a:extLst>
          </p:cNvPr>
          <p:cNvSpPr txBox="1"/>
          <p:nvPr/>
        </p:nvSpPr>
        <p:spPr>
          <a:xfrm>
            <a:off x="-147698" y="1301675"/>
            <a:ext cx="4309082" cy="351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spcBef>
                <a:spcPts val="750"/>
              </a:spcBef>
            </a:pPr>
            <a:r>
              <a:rPr lang="en-US" b="1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Diritto</a:t>
            </a:r>
            <a:r>
              <a:rPr lang="en-US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alla</a:t>
            </a:r>
            <a:r>
              <a:rPr lang="en-US" b="1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en-US" b="1" i="0" u="none" strike="noStrike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Discriminazione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750"/>
              </a:spcBef>
            </a:pPr>
            <a:br>
              <a:rPr lang="en-US" b="0" dirty="0">
                <a:effectLst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parity difference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Equalized Odds Difference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 Opportunity Difference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Parity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Equality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Statistical Parity</a:t>
            </a:r>
            <a:b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u="none" strike="noStrike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Use Accuracy Equality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82CD7E-49A0-ADEC-984D-9A2A307AE440}"/>
              </a:ext>
            </a:extLst>
          </p:cNvPr>
          <p:cNvSpPr/>
          <p:nvPr/>
        </p:nvSpPr>
        <p:spPr>
          <a:xfrm>
            <a:off x="349095" y="912696"/>
            <a:ext cx="5606980" cy="45585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CDDEC7-E92E-52AE-0269-C2E62FDD31BC}"/>
              </a:ext>
            </a:extLst>
          </p:cNvPr>
          <p:cNvSpPr/>
          <p:nvPr/>
        </p:nvSpPr>
        <p:spPr>
          <a:xfrm>
            <a:off x="6192279" y="912696"/>
            <a:ext cx="5652184" cy="45585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328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97C86-B613-DBAE-4129-AC44F827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31710-0D36-F117-004A-D526408696E1}"/>
              </a:ext>
            </a:extLst>
          </p:cNvPr>
          <p:cNvSpPr/>
          <p:nvPr/>
        </p:nvSpPr>
        <p:spPr>
          <a:xfrm>
            <a:off x="1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313398-B937-33B8-47E8-9A143733CAF6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Fairness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FBCE3D-0F7F-F0DF-A9F1-36551C604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23687"/>
              </p:ext>
            </p:extLst>
          </p:nvPr>
        </p:nvGraphicFramePr>
        <p:xfrm>
          <a:off x="1135463" y="1215851"/>
          <a:ext cx="9405258" cy="5114611"/>
        </p:xfrm>
        <a:graphic>
          <a:graphicData uri="http://schemas.openxmlformats.org/drawingml/2006/table">
            <a:tbl>
              <a:tblPr/>
              <a:tblGrid>
                <a:gridCol w="4702629">
                  <a:extLst>
                    <a:ext uri="{9D8B030D-6E8A-4147-A177-3AD203B41FA5}">
                      <a16:colId xmlns:a16="http://schemas.microsoft.com/office/drawing/2014/main" val="2081275836"/>
                    </a:ext>
                  </a:extLst>
                </a:gridCol>
                <a:gridCol w="4702629">
                  <a:extLst>
                    <a:ext uri="{9D8B030D-6E8A-4147-A177-3AD203B41FA5}">
                      <a16:colId xmlns:a16="http://schemas.microsoft.com/office/drawing/2014/main" val="1584197122"/>
                    </a:ext>
                  </a:extLst>
                </a:gridCol>
              </a:tblGrid>
              <a:tr h="395220">
                <a:tc>
                  <a:txBody>
                    <a:bodyPr/>
                    <a:lstStyle/>
                    <a:p>
                      <a:pPr rtl="0" fontAlgn="t"/>
                      <a:r>
                        <a:rPr lang="en-US" sz="12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METRICA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2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DESCRIZIONE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61855"/>
                  </a:ext>
                </a:extLst>
              </a:tr>
              <a:tr h="953177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Demographic Parity Difference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Differenza fra i selection rate ( quindi la percentuale di classificazione positiva) fra il gruppo con il selection rate più alto e quello più basso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883436"/>
                  </a:ext>
                </a:extLst>
              </a:tr>
              <a:tr h="674199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Equalized Odds Difference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Differenza dei tassi di falsi positivi e falsi negativi fra il gruppo con il tasso più alto e quello più basso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396897"/>
                  </a:ext>
                </a:extLst>
              </a:tr>
              <a:tr h="39522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 Opportunity Difference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Differenza tra i tassi di true positive per gruppo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084621"/>
                  </a:ext>
                </a:extLst>
              </a:tr>
              <a:tr h="674199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Parity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Misura se i precision rate (true positive) sono equivalenti per tutti i sottogruppi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989183"/>
                  </a:ext>
                </a:extLst>
              </a:tr>
              <a:tr h="39522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 Equality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per ogni sottogruppo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878426"/>
                  </a:ext>
                </a:extLst>
              </a:tr>
              <a:tr h="953177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Statistical Parity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Assegnazione al target positivo a parità di altre caratteristiche ( nel nostro caso, a parità di competenze)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00204"/>
                  </a:ext>
                </a:extLst>
              </a:tr>
              <a:tr h="674199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Use Accuracy Equality</a:t>
                      </a:r>
                      <a:endParaRPr 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 dirty="0" err="1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it-IT" sz="1200" b="0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 l’assegnazione al target positivo per ogni sottogruppo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5665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5D8CA38-B4D4-9D7A-CD84-2F57BCF3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079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229B-02A5-7351-7F26-C9BDCB85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724B41-3164-C29C-4FFE-6ED6F19BC8B0}"/>
              </a:ext>
            </a:extLst>
          </p:cNvPr>
          <p:cNvSpPr/>
          <p:nvPr/>
        </p:nvSpPr>
        <p:spPr>
          <a:xfrm>
            <a:off x="0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82A48-4EB3-8E8B-4C4F-18491B6229F0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Privacy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F4CFD4B-3720-4F4D-984F-DC008A77A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17A8FC-B738-1D23-E6C2-FC2F1BB3B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49048"/>
              </p:ext>
            </p:extLst>
          </p:nvPr>
        </p:nvGraphicFramePr>
        <p:xfrm>
          <a:off x="1256044" y="1443160"/>
          <a:ext cx="9234435" cy="4079630"/>
        </p:xfrm>
        <a:graphic>
          <a:graphicData uri="http://schemas.openxmlformats.org/drawingml/2006/table">
            <a:tbl>
              <a:tblPr/>
              <a:tblGrid>
                <a:gridCol w="4607598">
                  <a:extLst>
                    <a:ext uri="{9D8B030D-6E8A-4147-A177-3AD203B41FA5}">
                      <a16:colId xmlns:a16="http://schemas.microsoft.com/office/drawing/2014/main" val="431443541"/>
                    </a:ext>
                  </a:extLst>
                </a:gridCol>
                <a:gridCol w="4626837">
                  <a:extLst>
                    <a:ext uri="{9D8B030D-6E8A-4147-A177-3AD203B41FA5}">
                      <a16:colId xmlns:a16="http://schemas.microsoft.com/office/drawing/2014/main" val="656488086"/>
                    </a:ext>
                  </a:extLst>
                </a:gridCol>
              </a:tblGrid>
              <a:tr h="605570">
                <a:tc>
                  <a:txBody>
                    <a:bodyPr/>
                    <a:lstStyle/>
                    <a:p>
                      <a:pPr rtl="0" fontAlgn="t"/>
                      <a:r>
                        <a:rPr lang="en-US" sz="12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METRICA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200" b="0" i="0" u="none" strike="noStrike">
                          <a:solidFill>
                            <a:srgbClr val="27347F"/>
                          </a:solidFill>
                          <a:effectLst/>
                          <a:latin typeface="Arial" panose="020B0604020202020204" pitchFamily="34" charset="0"/>
                        </a:rPr>
                        <a:t>DESCRIZIONE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882999"/>
                  </a:ext>
                </a:extLst>
              </a:tr>
              <a:tr h="60557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Anonimity Set Size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Livello di anonimato medio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447256"/>
                  </a:ext>
                </a:extLst>
              </a:tr>
              <a:tr h="60557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</a:t>
                      </a:r>
                      <a:r>
                        <a:rPr lang="en-US" sz="1200" b="1" i="0" u="none" strike="noStrike" dirty="0" err="1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Anonimity</a:t>
                      </a:r>
                      <a:endParaRPr 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Ogni record è indistinguibile da almeno K−1 altri.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075726"/>
                  </a:ext>
                </a:extLst>
              </a:tr>
              <a:tr h="60557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L-Diversity</a:t>
                      </a:r>
                      <a:endParaRPr lang="en-US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Ogni gruppo ha almeno L valori sensibili diversi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758670"/>
                  </a:ext>
                </a:extLst>
              </a:tr>
              <a:tr h="105178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T-Closeness</a:t>
                      </a:r>
                      <a:endParaRPr 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Distanza fra distribuzione valori sensibili e distribuzione globale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11148"/>
                  </a:ext>
                </a:extLst>
              </a:tr>
              <a:tr h="605570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1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Mutual Information</a:t>
                      </a:r>
                      <a:endParaRPr lang="en-US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it-IT" sz="1200" b="0" i="0" u="none" strike="noStrike" dirty="0">
                          <a:solidFill>
                            <a:srgbClr val="27347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Correlazione di un attributo sensibile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73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14782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F593527-FC7A-84B1-56AE-0C4EAFE6E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0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1E85-8E70-9288-CF19-76E6D365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D6AF7C-2215-5FDC-4BFB-25DEA017D6F3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B2CC4-6C75-A5FF-5267-0738EB0FBBE4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Calcolo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delle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123CC4-B246-C595-B94A-6642DC55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CC635-69E6-8738-1DB5-6884339EC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1571E6-A1B4-8BA5-811C-A26A38A6E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C92DA1B-0E67-45E2-EA88-005912335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774E3B44-301A-0957-5089-FB9538FB3925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85A461-32AB-9BAF-84DF-10ECE2261A16}"/>
              </a:ext>
            </a:extLst>
          </p:cNvPr>
          <p:cNvSpPr txBox="1"/>
          <p:nvPr/>
        </p:nvSpPr>
        <p:spPr>
          <a:xfrm>
            <a:off x="1" y="1107516"/>
            <a:ext cx="122015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Una volta esportate le predizioni e il test set del modello, possiamo occuparci del calcolo delle metriche in ambito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Fairness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e Privacy.</a:t>
            </a:r>
          </a:p>
          <a:p>
            <a:pPr marL="0" lvl="0" indent="0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Le metriche sono state calcolate utilizzando la libreria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Fairlearn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oppure calcolate ad-hoc</a:t>
            </a: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Le metriche possono essere calcolate a livello di attributo, a livello di valore, oppure a livello di intero dataset</a:t>
            </a: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Infine tutte le metriche sono state standardizzate nell’intervallo [0,1] dove 0 è il risultato peggiore e 1 è il risultato migliore</a:t>
            </a: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Le metriche sono state salvate all’interno di un dizionario (struttura dati), il quale poi è stato esportato per permettere la visualizzazione di esse</a:t>
            </a:r>
          </a:p>
          <a:p>
            <a:pPr marL="0" lvl="0" indent="0">
              <a:buNone/>
            </a:pPr>
            <a:endParaRPr lang="it-IT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EF3D4DC-014C-59AD-E317-A3A47BD231FC}"/>
              </a:ext>
            </a:extLst>
          </p:cNvPr>
          <p:cNvSpPr/>
          <p:nvPr/>
        </p:nvSpPr>
        <p:spPr>
          <a:xfrm>
            <a:off x="5980387" y="2664618"/>
            <a:ext cx="315310" cy="2790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5388BD9-0BC1-5D9C-39FD-228E7E938C09}"/>
              </a:ext>
            </a:extLst>
          </p:cNvPr>
          <p:cNvSpPr/>
          <p:nvPr/>
        </p:nvSpPr>
        <p:spPr>
          <a:xfrm>
            <a:off x="5985642" y="3531392"/>
            <a:ext cx="315310" cy="2790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402779D-D406-00C7-22A7-721D7E2E4465}"/>
              </a:ext>
            </a:extLst>
          </p:cNvPr>
          <p:cNvSpPr/>
          <p:nvPr/>
        </p:nvSpPr>
        <p:spPr>
          <a:xfrm>
            <a:off x="5980387" y="4375790"/>
            <a:ext cx="315310" cy="2790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08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B4B3-89CE-D6EE-1C4D-FEE8EA93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35A454D-7AAC-7316-03FA-2953A70809DE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81270-AB12-6C62-6CC8-DDCA2451078A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(Privacy)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CE7E1A6-52BB-1370-E328-B76734087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532D3C-0426-1DC1-EE53-AB8D173A6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F358DC-9BD3-0F1A-0FB9-4A0C66DED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861F5C0-86B9-3E9D-D27E-AA4C299F7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F321FD08-E124-60C9-0792-1C9CCF5A1DBE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326AC-13C0-E275-6F4D-FC960E0F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216" y="726391"/>
            <a:ext cx="10093733" cy="55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8F3B0-887F-054E-D28A-CEB730C7A22B}"/>
              </a:ext>
            </a:extLst>
          </p:cNvPr>
          <p:cNvSpPr txBox="1"/>
          <p:nvPr/>
        </p:nvSpPr>
        <p:spPr>
          <a:xfrm>
            <a:off x="171013" y="6392857"/>
            <a:ext cx="511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https://merry-cheesecake-d19117.netlify.app/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550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4EF9-F9E6-9999-C865-50966C33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062E925-D8B6-E2CD-F1A0-5B5BC759CCB3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5B543-6DAF-6879-29FC-36B0EDC78E02}"/>
              </a:ext>
            </a:extLst>
          </p:cNvPr>
          <p:cNvSpPr txBox="1"/>
          <p:nvPr/>
        </p:nvSpPr>
        <p:spPr>
          <a:xfrm>
            <a:off x="205684" y="67881"/>
            <a:ext cx="1199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(Non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Discriminazione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Valori)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B091AC4-2E1E-2DE9-2A9A-C9D815254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7B04F8-FC3C-087C-76DA-D8074AEA0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2D9481-05EF-5697-73B1-28363CC49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749165E-3A1C-50AA-7E70-7AC16C5C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C0FF601-5DAF-50B0-E25D-545FA8180773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C3BBE-4EA5-41D3-5679-9AF899638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644" y="923653"/>
            <a:ext cx="11051971" cy="53165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32BA0B-CE49-EE99-E0A7-76FC64B285DE}"/>
              </a:ext>
            </a:extLst>
          </p:cNvPr>
          <p:cNvSpPr txBox="1"/>
          <p:nvPr/>
        </p:nvSpPr>
        <p:spPr>
          <a:xfrm>
            <a:off x="205684" y="6444874"/>
            <a:ext cx="511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sng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https://radiant-cannoli-1f9e42.netlify.app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7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CF50-24DE-4CC9-3E53-FD56BEB3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BBADF59-FB0F-DF21-03B0-1347CD7B86AD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9D671-F49F-F7EF-8499-EF0B78E00385}"/>
              </a:ext>
            </a:extLst>
          </p:cNvPr>
          <p:cNvSpPr txBox="1"/>
          <p:nvPr/>
        </p:nvSpPr>
        <p:spPr>
          <a:xfrm>
            <a:off x="123656" y="117785"/>
            <a:ext cx="12690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(Non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Discriminazione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Attributi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5EE5820-D9D2-D7CF-B428-5505A42AE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C14F32-882F-715B-B3CC-588936DF0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6E26CB-F3E1-842C-53C6-F297B5C2E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555CD03-2047-6673-DBB7-1FE496F17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81AEADD-89A7-DFF9-5DF7-C2A60A7F4BAF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2A660C-7679-AE52-F742-5F6FB91C8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231" y="1214755"/>
            <a:ext cx="11975857" cy="4852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396B74-3375-CF84-3EFC-C78215D1C5C2}"/>
              </a:ext>
            </a:extLst>
          </p:cNvPr>
          <p:cNvSpPr txBox="1"/>
          <p:nvPr/>
        </p:nvSpPr>
        <p:spPr>
          <a:xfrm>
            <a:off x="116237" y="6370883"/>
            <a:ext cx="511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sng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https://tourmaline-smakager-dc566f.netlify.app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767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AB37-6D2B-770C-DD9C-63665794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2E4B14-2658-0FA5-9180-5351F59C4A0E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FDF96-381B-4232-674F-841B8FD82AAE}"/>
              </a:ext>
            </a:extLst>
          </p:cNvPr>
          <p:cNvSpPr txBox="1"/>
          <p:nvPr/>
        </p:nvSpPr>
        <p:spPr>
          <a:xfrm>
            <a:off x="205684" y="67881"/>
            <a:ext cx="11187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(Privacy)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06E3F24-327C-AAB9-C39F-20DF7DFF4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A74FF6-D85D-1D76-44D9-1CE52353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F6678B-046E-AD36-B669-20E470E9C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6F6C493-5FBB-1BC5-C3BC-874DA844F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F0D92F2F-207A-1BD7-998D-69BFF09B1AA0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EF52B-0FED-897D-450E-D44C255A5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9" r="3756"/>
          <a:stretch/>
        </p:blipFill>
        <p:spPr>
          <a:xfrm>
            <a:off x="82552" y="1317746"/>
            <a:ext cx="12114371" cy="26683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5F38B8-AD27-8489-6266-DFABCB9C6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062" y="4215724"/>
            <a:ext cx="6611007" cy="98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694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936BE-4F81-7FB8-142C-2B65C3EC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79E624E-1862-D5D1-C8C1-A9BFF44D5DDD}"/>
              </a:ext>
            </a:extLst>
          </p:cNvPr>
          <p:cNvSpPr/>
          <p:nvPr/>
        </p:nvSpPr>
        <p:spPr>
          <a:xfrm>
            <a:off x="9577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772BC-7983-A99C-02AF-3867BE380318}"/>
              </a:ext>
            </a:extLst>
          </p:cNvPr>
          <p:cNvSpPr txBox="1"/>
          <p:nvPr/>
        </p:nvSpPr>
        <p:spPr>
          <a:xfrm>
            <a:off x="0" y="6788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compilazione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(Non </a:t>
            </a:r>
            <a:r>
              <a:rPr lang="en-US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Discriminazione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5059B2D-634E-6693-FAA0-3D4C24709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D06121-6811-5DE0-A229-934D35EF1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B01B87-6C46-D6E5-6C32-9D63D756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22A9ABD-118A-7ECF-A877-9CA1FF13B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5CBD50E-6A3C-9301-6B0F-37D7423FF9C1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A7E34-C87F-8B57-98C1-9133C2D2C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78" y="1021988"/>
            <a:ext cx="12176998" cy="41345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DD85E1-F481-B5EB-A20D-7CCB08E7C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5002" y="5374130"/>
            <a:ext cx="7511879" cy="108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009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D60D-3971-D810-A513-C55619E6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A6CFBC-25ED-C23B-C991-6EEC61FEBF4F}"/>
              </a:ext>
            </a:extLst>
          </p:cNvPr>
          <p:cNvSpPr/>
          <p:nvPr/>
        </p:nvSpPr>
        <p:spPr>
          <a:xfrm>
            <a:off x="55545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BA839A-695B-31D3-4892-D2C73F36F812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ACC811D-A1F7-D3B7-6C3A-5EDE30ADC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337378-C66F-7746-54FA-A4708A5B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DB1FB3-1FD2-51F8-02E1-42B62CE1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C301B83-E806-D73C-D215-DB5ED7AE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FC0094C0-2833-E191-30A9-614ED424EEE2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8AA993-B436-DE40-E94C-3AC63CE56150}"/>
              </a:ext>
            </a:extLst>
          </p:cNvPr>
          <p:cNvSpPr txBox="1"/>
          <p:nvPr/>
        </p:nvSpPr>
        <p:spPr>
          <a:xfrm>
            <a:off x="245315" y="1385845"/>
            <a:ext cx="26567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Per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verificare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il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funzionamento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del framework,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l’esperimento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è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stato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condotto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in 3 diverse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tipologie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sistemi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07CA55-2AD7-7441-D846-53F20F403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22487"/>
              </p:ext>
            </p:extLst>
          </p:nvPr>
        </p:nvGraphicFramePr>
        <p:xfrm>
          <a:off x="3489861" y="502920"/>
          <a:ext cx="797512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7560">
                  <a:extLst>
                    <a:ext uri="{9D8B030D-6E8A-4147-A177-3AD203B41FA5}">
                      <a16:colId xmlns:a16="http://schemas.microsoft.com/office/drawing/2014/main" val="4122215504"/>
                    </a:ext>
                  </a:extLst>
                </a:gridCol>
                <a:gridCol w="3987560">
                  <a:extLst>
                    <a:ext uri="{9D8B030D-6E8A-4147-A177-3AD203B41FA5}">
                      <a16:colId xmlns:a16="http://schemas.microsoft.com/office/drawing/2014/main" val="1258197412"/>
                    </a:ext>
                  </a:extLst>
                </a:gridCol>
              </a:tblGrid>
              <a:tr h="267940">
                <a:tc>
                  <a:txBody>
                    <a:bodyPr/>
                    <a:lstStyle/>
                    <a:p>
                      <a:r>
                        <a:rPr lang="en-US" dirty="0"/>
                        <a:t>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Descrizione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81238"/>
                  </a:ext>
                </a:extLst>
              </a:tr>
              <a:tr h="604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S_no_bias</a:t>
                      </a:r>
                      <a:endParaRPr lang="en-US" sz="1800" b="0" i="1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Il Sistema non ha nessun </a:t>
                      </a:r>
                      <a:r>
                        <a:rPr lang="it-IT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introdotto 	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1274"/>
                  </a:ext>
                </a:extLst>
              </a:tr>
              <a:tr h="2782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S_mid_bias</a:t>
                      </a:r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Il Sistema introduce </a:t>
                      </a:r>
                      <a:r>
                        <a:rPr lang="it-IT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nei seguenti attributi: </a:t>
                      </a:r>
                    </a:p>
                    <a:p>
                      <a:r>
                        <a:rPr lang="it-IT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it-IT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Religion</a:t>
                      </a:r>
                      <a:r>
                        <a:rPr lang="it-IT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 delle offerte di lavoro richiede candidati di religione cristiana </a:t>
                      </a:r>
                    </a:p>
                    <a:p>
                      <a:r>
                        <a:rPr lang="it-IT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it-IT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Ethnicity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50% delle offerte di lavoro richiede candidati di etnia bianca </a:t>
                      </a:r>
                    </a:p>
                    <a:p>
                      <a:r>
                        <a:rPr lang="it-IT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it-IT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Disability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60% delle offerte di lavoro esclude a priori persone con disabilità </a:t>
                      </a:r>
                    </a:p>
                    <a:p>
                      <a:r>
                        <a:rPr lang="it-IT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Gender: 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 delle offerte di lavoro richiedono candidati maschi 	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139961"/>
                  </a:ext>
                </a:extLst>
              </a:tr>
              <a:tr h="1149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S_full_bias</a:t>
                      </a:r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Il Sistema introduce un </a:t>
                      </a:r>
                      <a:r>
                        <a:rPr lang="it-IT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pari al 100%, che significa che il mercato del lavoro richiede solamente candidati maschi, bianchi e cristiani 	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4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434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293E-EC18-4261-00AD-8D81EA3A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A4C356C-4CC5-D5AC-9BDE-43DA529D41C8}"/>
              </a:ext>
            </a:extLst>
          </p:cNvPr>
          <p:cNvSpPr/>
          <p:nvPr/>
        </p:nvSpPr>
        <p:spPr>
          <a:xfrm>
            <a:off x="55545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4153A-4D08-C250-816B-8AE6093D14A0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33D6CD4-89D6-A21A-65A7-993E78138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1556FB-97D7-F029-A0EB-97B0120E9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78B071-185F-5667-4FF6-0B5607C8D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54E3A2C-DCF6-0494-27B2-55D269F02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843F933C-3D8A-A598-22CB-8C4982816243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B3EAD6-E2E2-DF90-0A54-5E52A8C1BF41}"/>
              </a:ext>
            </a:extLst>
          </p:cNvPr>
          <p:cNvSpPr txBox="1"/>
          <p:nvPr/>
        </p:nvSpPr>
        <p:spPr>
          <a:xfrm>
            <a:off x="567559" y="914400"/>
            <a:ext cx="187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8E032-7B37-A07F-74BC-44CCD806F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825" y="591100"/>
            <a:ext cx="5872766" cy="3097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BB49BB-8C1F-6B4F-8C27-BDD4D80A2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23" y="591101"/>
            <a:ext cx="5898524" cy="30973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B90F09-D2A9-888E-F410-27F4AA43B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476" y="3764696"/>
            <a:ext cx="5877471" cy="30347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13F6D4-12B6-A2E7-D44F-E6BCD93C3C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5825" y="3764696"/>
            <a:ext cx="5901141" cy="301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023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46E5-3F38-7D01-3D0C-505C6BAA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6C257-629B-C5D7-8909-C538D0EADEE2}"/>
              </a:ext>
            </a:extLst>
          </p:cNvPr>
          <p:cNvSpPr/>
          <p:nvPr/>
        </p:nvSpPr>
        <p:spPr>
          <a:xfrm>
            <a:off x="55545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92D23-033B-CDBC-3933-D38DDE4D2711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10ECCB8-8B56-A757-F3A4-329054EC7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5B913D-83AD-782A-EC69-D544F26B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6B5E225-D37C-9BFA-F6E3-41DE75493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6D56F1D-7BEC-31BC-7CD6-B04014C7B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DD9D18A-FD0B-512D-D701-6AB71FA95F96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125BA4-2AF4-5A4A-C804-2A58D8C32B55}"/>
              </a:ext>
            </a:extLst>
          </p:cNvPr>
          <p:cNvSpPr txBox="1"/>
          <p:nvPr/>
        </p:nvSpPr>
        <p:spPr>
          <a:xfrm>
            <a:off x="567559" y="914400"/>
            <a:ext cx="187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CF9428-2D47-1EDA-5112-18363C2B3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449408"/>
              </p:ext>
            </p:extLst>
          </p:nvPr>
        </p:nvGraphicFramePr>
        <p:xfrm>
          <a:off x="3103544" y="172019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275473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27899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42921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MGP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24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S_no</a:t>
                      </a:r>
                      <a:r>
                        <a:rPr lang="en-US" dirty="0"/>
                        <a:t>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91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S_mid</a:t>
                      </a:r>
                      <a:r>
                        <a:rPr lang="en-US" dirty="0"/>
                        <a:t>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11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S_full</a:t>
                      </a:r>
                      <a:r>
                        <a:rPr lang="en-US" dirty="0"/>
                        <a:t>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4307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C0449B-A726-A1DE-935D-5DE0A01B0677}"/>
              </a:ext>
            </a:extLst>
          </p:cNvPr>
          <p:cNvSpPr txBox="1"/>
          <p:nvPr/>
        </p:nvSpPr>
        <p:spPr>
          <a:xfrm>
            <a:off x="717528" y="3536635"/>
            <a:ext cx="10747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Come si nota chiaramente, il degradamento delle metriche globali è molto visibile per MGND (Metrica Globale Non Discriminazione) poiché l’esperimento che è stato condotto inserendo diversi livelli di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bias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influisce per lo più sulle metriche di non discriminazione piuttosto che su quelle di privacy.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296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8F8CA-6CE9-DA36-694A-D5A2D42C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8F4E0BD-87C1-0F53-A661-E19770AFF5F7}"/>
              </a:ext>
            </a:extLst>
          </p:cNvPr>
          <p:cNvSpPr/>
          <p:nvPr/>
        </p:nvSpPr>
        <p:spPr>
          <a:xfrm>
            <a:off x="55545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CCFDE2-98CC-2B2A-024A-81715035A9B6}"/>
              </a:ext>
            </a:extLst>
          </p:cNvPr>
          <p:cNvSpPr txBox="1"/>
          <p:nvPr/>
        </p:nvSpPr>
        <p:spPr>
          <a:xfrm>
            <a:off x="205684" y="67881"/>
            <a:ext cx="8675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Sviluppi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futuri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F587F18-06FA-4659-39AC-62B017DD1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C04B5E-DA8E-75B3-40C4-EF16763A0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262C73D-1485-B526-9C8F-4C522D857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3FB1045-24EA-C4B4-E601-948398F89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19151DDA-86B6-410F-9F5E-8C14DBE666B6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94AEA-B105-CA41-230D-C22BE4535AAD}"/>
              </a:ext>
            </a:extLst>
          </p:cNvPr>
          <p:cNvSpPr txBox="1"/>
          <p:nvPr/>
        </p:nvSpPr>
        <p:spPr>
          <a:xfrm>
            <a:off x="567559" y="788812"/>
            <a:ext cx="187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C7099-51E6-9301-43AF-46B52BEE682D}"/>
              </a:ext>
            </a:extLst>
          </p:cNvPr>
          <p:cNvSpPr txBox="1"/>
          <p:nvPr/>
        </p:nvSpPr>
        <p:spPr>
          <a:xfrm>
            <a:off x="283779" y="1857802"/>
            <a:ext cx="11719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Gli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sviluppi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futuri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questo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framework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potrebbero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essere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Lavorare sull'interfaccia di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form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e plot con esperti di visual 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analytics</a:t>
            </a: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Migliorare la spiegazione delle misure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Testare il sistema su un sistema reale di selezione del personale, o estendere ad altri casi d’uso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Estendere i diritti fondamentali e le misure</a:t>
            </a:r>
          </a:p>
        </p:txBody>
      </p:sp>
    </p:spTree>
    <p:extLst>
      <p:ext uri="{BB962C8B-B14F-4D97-AF65-F5344CB8AC3E}">
        <p14:creationId xmlns:p14="http://schemas.microsoft.com/office/powerpoint/2010/main" val="12367032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E6E3-1F10-10A6-9AD5-671DA01D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41E782-03D2-66C3-BDC3-0711D132830A}"/>
              </a:ext>
            </a:extLst>
          </p:cNvPr>
          <p:cNvSpPr/>
          <p:nvPr/>
        </p:nvSpPr>
        <p:spPr>
          <a:xfrm>
            <a:off x="1" y="-67881"/>
            <a:ext cx="12191999" cy="6925881"/>
          </a:xfrm>
          <a:prstGeom prst="rect">
            <a:avLst/>
          </a:prstGeom>
          <a:gradFill flip="none" rotWithShape="1">
            <a:gsLst>
              <a:gs pos="61000">
                <a:srgbClr val="E3D8BB">
                  <a:alpha val="0"/>
                </a:srgbClr>
              </a:gs>
              <a:gs pos="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Rendere il dataset più affine alla realtà</a:t>
            </a:r>
          </a:p>
          <a:p>
            <a:pPr lvl="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Perturbare i dati in modo da rendere il modello non banale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894C264-AB28-27FB-5D9F-E6669816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2325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B4D28-3FA2-3FA5-D091-02975FE8C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25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0380AC-BEB9-B20F-4C2B-E42A0F8BB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28" y="27833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1D48163-C4F7-F1B0-42F8-1BACA52D5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0FC3A984-3FDD-13D2-E045-F492DFACD5BF}"/>
              </a:ext>
            </a:extLst>
          </p:cNvPr>
          <p:cNvSpPr txBox="1">
            <a:spLocks/>
          </p:cNvSpPr>
          <p:nvPr/>
        </p:nvSpPr>
        <p:spPr>
          <a:xfrm>
            <a:off x="643363" y="726863"/>
            <a:ext cx="10233800" cy="571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C5B16C-A985-B72F-FCE2-B6701C157672}"/>
              </a:ext>
            </a:extLst>
          </p:cNvPr>
          <p:cNvSpPr txBox="1"/>
          <p:nvPr/>
        </p:nvSpPr>
        <p:spPr>
          <a:xfrm>
            <a:off x="567559" y="788812"/>
            <a:ext cx="187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38A10-29BA-F3B9-AE1A-5EAF4C1F266D}"/>
              </a:ext>
            </a:extLst>
          </p:cNvPr>
          <p:cNvSpPr txBox="1"/>
          <p:nvPr/>
        </p:nvSpPr>
        <p:spPr>
          <a:xfrm>
            <a:off x="3884688" y="2325688"/>
            <a:ext cx="44226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GRAZIE</a:t>
            </a:r>
          </a:p>
        </p:txBody>
      </p:sp>
    </p:spTree>
    <p:extLst>
      <p:ext uri="{BB962C8B-B14F-4D97-AF65-F5344CB8AC3E}">
        <p14:creationId xmlns:p14="http://schemas.microsoft.com/office/powerpoint/2010/main" val="336869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2260</Words>
  <Application>Microsoft Office PowerPoint</Application>
  <PresentationFormat>Widescreen</PresentationFormat>
  <Paragraphs>291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Rajdhani</vt:lpstr>
      <vt:lpstr>Segoe UI</vt:lpstr>
      <vt:lpstr>Times New Roman</vt:lpstr>
      <vt:lpstr>Wingdings</vt:lpstr>
      <vt:lpstr>Office Theme</vt:lpstr>
      <vt:lpstr>FRIA-Based Framework:   Valutazione dell’Impatto sui Diritti Fondamentali nei Sistemi di Intelligenza Artificiale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Cristo, Marco</dc:creator>
  <cp:lastModifiedBy>Di Cristo, Marco</cp:lastModifiedBy>
  <cp:revision>6</cp:revision>
  <dcterms:created xsi:type="dcterms:W3CDTF">2025-04-02T17:45:30Z</dcterms:created>
  <dcterms:modified xsi:type="dcterms:W3CDTF">2025-04-10T21:04:32Z</dcterms:modified>
</cp:coreProperties>
</file>